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Qaracter presenta a Regalos con Historia la propuesta StoryMaker: un sistema agéntico que escribe novelas de regalo de diez capítulos, personalizadas y verificadas. Ocasión: propuesta formal técnico-comercial.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Quien regala —a un hijo, a la pareja, en una boda o una jubilación— necesita dos cosas a la vez: que el destinatario se reconozca y que la novela se lea de principio a fin. La matriz cruza las dos. Arriba a la izquierda, la plantilla con el nombre cambiado: se lee bien porque el texto es fijo, pero podría ser de cualquiera. Abajo a la derecha, un chat con IA: mete los datos, pero sin memoria olvida lo que dijo en el capítulo tres y se contradice en el siete, y nadie lo revisa. Arriba a la derecha está el escritor a medida, que lo consigue, pero es caro y tarda semanas. StoryMaker ocupa ese cuadrante al precio y la velocidad de una plantilla: 49 USD, unas horas (unos 8 minutos por capítulo medidos), y una corrección solo rehace los capítulos afectados. Las posiciones son cualitativas: ilustran el argumento, no una medición.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contradicción del veto y el hospital salió de la eval B4 en la corrida real: el Entrevistador la cazó antes de gastar una sola llamada de escritura.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CA-25. Las rutas de lectura van por token: quien lee nunca ve el identificador de la 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Ensamblador es código para que un fallo sea reproducible. El Continuista y el Crítico corren en paralelo dentro del techo de 100.000 tokens concurrentes. El Editor de línea y el Auditor son roles del diseño aún no desplegados.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Sobrecarga medida del CLI: unos 1.200 tokens por llamada, reservados en cada turno. Checkpoint probado en los seis estados no terminales.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completa en docs/verification.md. La validación visual se ejecuta sobre la lectura publicada; hoy no bloquea (declarado en trade-offs T-36).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 real: la batería no llegó entera a Lean ni a G4, porque la cuota y las caídas de la base cortaron B1, B3 y B5. Sí dio tres resultados: B2 neutralizó la inyección (español, tercera persona, sin fuga de instrucciones), B4 se detuvo en la entrevista y B3 disparó el tuning. La novela de ejemplo sí recorrió todas las puertas: 10 de 10 y publicada. El tuning: la v1 no pedía extensión y la reparación ordenaba dejar intacto el texto; la v2 declara la extensión como restricción dura y la reparación dice cuántas palabras faltan. Detalle en evals/tuning.md y anexo 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Invariantes de TLA+: nunca se publica un capítulo sin pasar sus validadores; la reanudación no duplica ni pierde capítulos; los reintentos no superan el límite. Liveness: toda generación termina publicando o deteniéndose. El caso real salió de la novela de ejemplo, no de B3: el Extractor anotó una salida de escena como exclusión de la historia. Se corrigió con un evento que sustituye al original, sin editar el ledger. Punto ciego declarado: los momentos vagos («madrugada») ya no se emparejan.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Parcial declarado: el Entrevistador todavía no entra en la sesión, porque la obra no existe durante la entrevista (trade-offs T-35).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Edad y nivel de calor también se validan en código: ningún contenido romántico con menores es una regla de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Mercado de referencia: México. Cada partida y su fuente. TOKENS (medido): Langfuse, sesión de la novela de ejemplo, capítulos 4 a 10: 3,45 USD en 79 llamadas con reintentos incluidos; 0,49 USD por capítulo, 4,90 por novela. La estimación previa, 1,5 USD, se quedaba en un tercio: el Continuista solo es el 43 %. PASARELA: Stripe México cobra 3,6 % + 3 MXN por transacción nacional y aplica IVA del 16 % a su comisión; sobre 49 USD son 1,76 + 0,17 = 1,93, y con IVA 2,24 USD. Con conversión de moneda se añade un 2 %. SOPORTE: el soporte tercerizado en México cobra por resolución entre 1 y 7 USD, unos 4 de media, y 12–20 USD la hora de agente; suponemos 1 ticket por cada 4 novelas, porque la entrevista resuelve casi todo y la corrección la pide el lector desde la app. OBSERVABILIDAD: el plan Core de Langfuse (29 USD/mes, en el fijo) incluye 100.000 unidades; una novela son unas 300, y el exceso cuesta 8 USD cada 100.000. PRECIO: 49 USD, unos 865 MXN; supuesto comercial a validar con el cliente. DESARROLLO: 45 USD/h es el percentil 75 de un desarrollador senior en México (mediana 38 USD/h); el rango nearshore senior va de 28 a 50 USD/h. Fuentes: stripe.com/mx/pricing y wise.com (Stripe México), support.stripe.com (IVA sobre comisiones), langfuse.com/pricing, rethinkcx.com y crescendo.ai (soporte en México), lemon.io y 4mlabs.io (tarifas en México), DOF (tipo de cambio).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sale cada columna. INGRESOS: novelas al mes por 49 USD (unos 865 MXN). VARIABLE: novelas por 8,17 USD, el coste unitario de la slide anterior; crece con cada novela. FIJO, lo que se paga al mes aunque no se venda ninguna: servidor de 2 vCPU y 4 GB, 24 USD en DigitalOcean más unos 5 de copias de seguridad (29); Langfuse Core, 29 USD con 100.000 unidades incluidas; dominio, correo transaccional y utilidades, unos 20; y mantenimiento, 20 horas al mes a 45 USD, la tarifa senior en México, para errores, dependencias y ajuste de prompts (900). A 2.000 novelas: aplicación y Postgres gestionado, unos 150 USD, porque SQLite ya no aguanta varias novelas en paralelo, y 40 horas de mantenimiento: unos 2.000. MARGEN: ingresos menos variable y fijo. SENSIBILIDAD: si los tokens suben un 50 %, son 2,45 USD más por novela. Una revisión solo reescribe los capítulos que usan el hecho corregido. Fuentes: digitalocean.com/pricing/droplets, langfuse.com/pricing, lemon.io (tarifas en México).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riesgo salió de la corrida real, no de una lista genérica. Cuota: el límite de la cuenta detuvo la novela y el checkpoint por capítulo permitió seguir desde el 4. SQLite: con cinco novelas en paralelo, «database is locked»; hoy se corre una por vez. Juez: todo en Haiku por coste, así que las notas del Crítico salen más altas de lo que el texto merece; MODELO_JUEZ está separado para cambiarlo en una línea. Datos: nombres y recuerdos del destinatario pasan por el proveedor; la cuenta corporativa los anonimizaba (hallazgo real). Extractor: entidades duplicadas, objetos como nombres y una salida de escena registrada como partida definitiva (P-38). Coste: 4,9 USD medidos frente a 1,5 estimados.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demo es evidencia obligatoria: un cambio del lector propagado solo a los capítulos que usan el hecho, conservando la versión anterior. Hoja de ruta: que un fallo de Lean vuelva al Escritor como defecto con cita en vez de parar la publicación; validadores de estilo baratos y deterministas; exponer la novela como herramientas MCP (download_novel); dar en la app la decisión humana sobre un capítulo escalado (P-36); y pedir la dedicatoria en el formulario de la entrevista, que hoy no la recoge.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Contraportada con los datos de contacto de la empresa presentadora.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Anexos para preguntas; no entran en los 10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de modelo se inyecta; en pruebas se usa un doble con respuestas fijas.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diez estados de maquina.py: del pendiente al publicado, con reparación, escalado y regeneración.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intento de 141 palabras era metacomentario, no prosa: la v1 le pedía conservar un texto que no llegaba al mínimo.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vector es léxico y local, no semántico: sin proveedor de embeddings. Es una decisión de producto declarada.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salieron de la corrida real y cada arreglo tiene su test. Las dos correcciones de datos (el trabajo escalado del capítulo 10 y el evento 60) fueron decisión humana y constan en el registro de auditoría. Registro completo en docs/proceso/.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clave de API: acceso por consumo de cuenta; el coste se deriva de los tokens y de la tarifa declarada.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4800" y="584200"/>
            <a:ext cx="6045200" cy="5689600"/>
          </a:xfrm>
          <a:prstGeom prst="roundRect">
            <a:avLst>
              <a:gd name="adj" fmla="val 3795"/>
            </a:avLst>
          </a:prstGeom>
          <a:solidFill>
            <a:srgbClr val="FF7932"/>
          </a:solidFill>
          <a:ln/>
        </p:spPr>
      </p:sp>
      <p:pic>
        <p:nvPicPr>
          <p:cNvPr id="3" name="Image 0" descr="Qarac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939800"/>
            <a:ext cx="17780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0300" y="26670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· STORYMAKER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30300" y="2984500"/>
            <a:ext cx="4055110" cy="156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Novelas personalizadas, escritas y verificadas por agentes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117600" y="5080000"/>
            <a:ext cx="476250" cy="38100"/>
          </a:xfrm>
          <a:prstGeom prst="rect">
            <a:avLst/>
          </a:prstGeom>
          <a:solidFill>
            <a:srgbClr val="FF7932"/>
          </a:solidFill>
          <a:ln/>
        </p:spPr>
      </p:sp>
      <p:sp>
        <p:nvSpPr>
          <p:cNvPr id="7" name="Text 4"/>
          <p:cNvSpPr/>
          <p:nvPr/>
        </p:nvSpPr>
        <p:spPr>
          <a:xfrm>
            <a:off x="1130300" y="55880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YOUR CHALLENGE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73750" y="1270000"/>
            <a:ext cx="536321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</a:t>
            </a:r>
            <a:endParaRPr lang="en-US" sz="52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endParaRPr lang="en-US" sz="52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Challenge.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5861050" y="4699000"/>
            <a:ext cx="5099050" cy="12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873750" y="4889500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73750" y="5143500"/>
            <a:ext cx="16383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Regalos con Historia S.A. de C.V.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15250" y="4889500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15250" y="5143500"/>
            <a:ext cx="1384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39250" y="48895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239250" y="51435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Mauricio Jiménez</a:t>
            </a:r>
            <a:endParaRPr lang="en-US" sz="14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2031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EL PROBLEMA Y EL CLIENTE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203180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se elige entre que sea suyo o que se lea bien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25550" y="1778000"/>
            <a:ext cx="2984500" cy="1841500"/>
          </a:xfrm>
          <a:custGeom>
            <a:avLst/>
            <a:gdLst/>
            <a:ahLst/>
            <a:cxnLst/>
            <a:rect l="l" t="t" r="r" b="b"/>
            <a:pathLst>
              <a:path w="2984500" h="1841500">
                <a:moveTo>
                  <a:pt x="88900" y="0"/>
                </a:moveTo>
                <a:lnTo>
                  <a:pt x="2984500" y="0"/>
                </a:lnTo>
                <a:lnTo>
                  <a:pt x="2984500" y="1841500"/>
                </a:lnTo>
                <a:lnTo>
                  <a:pt x="0" y="1841500"/>
                </a:lnTo>
                <a:lnTo>
                  <a:pt x="0" y="88900"/>
                </a:lnTo>
                <a:arcTo hR="88900" wR="88900" stAng="10800000" swAng="5400000"/>
                <a:close/>
              </a:path>
            </a:pathLst>
          </a:custGeom>
          <a:solidFill>
            <a:srgbClr val="F7F7F5"/>
          </a:solidFill>
          <a:ln/>
        </p:spPr>
      </p:sp>
      <p:sp>
        <p:nvSpPr>
          <p:cNvPr id="5" name="Shape 3"/>
          <p:cNvSpPr/>
          <p:nvPr/>
        </p:nvSpPr>
        <p:spPr>
          <a:xfrm>
            <a:off x="4210050" y="1778000"/>
            <a:ext cx="2984500" cy="1841500"/>
          </a:xfrm>
          <a:custGeom>
            <a:avLst/>
            <a:gdLst/>
            <a:ahLst/>
            <a:cxnLst/>
            <a:rect l="l" t="t" r="r" b="b"/>
            <a:pathLst>
              <a:path w="2984500" h="1841500">
                <a:moveTo>
                  <a:pt x="0" y="0"/>
                </a:moveTo>
                <a:lnTo>
                  <a:pt x="2895600" y="0"/>
                </a:lnTo>
                <a:arcTo hR="88900" wR="88900" stAng="16200000" swAng="5400000"/>
                <a:lnTo>
                  <a:pt x="2984500" y="1841500"/>
                </a:lnTo>
                <a:lnTo>
                  <a:pt x="0" y="1841500"/>
                </a:lnTo>
                <a:lnTo>
                  <a:pt x="0" y="0"/>
                </a:lnTo>
                <a:close/>
              </a:path>
            </a:pathLst>
          </a:custGeom>
          <a:solidFill>
            <a:srgbClr val="FFF1E8"/>
          </a:solidFill>
          <a:ln/>
        </p:spPr>
      </p:sp>
      <p:sp>
        <p:nvSpPr>
          <p:cNvPr id="6" name="Shape 4"/>
          <p:cNvSpPr/>
          <p:nvPr/>
        </p:nvSpPr>
        <p:spPr>
          <a:xfrm>
            <a:off x="1225550" y="3619500"/>
            <a:ext cx="2984500" cy="1841500"/>
          </a:xfrm>
          <a:custGeom>
            <a:avLst/>
            <a:gdLst/>
            <a:ahLst/>
            <a:cxnLst/>
            <a:rect l="l" t="t" r="r" b="b"/>
            <a:pathLst>
              <a:path w="2984500" h="1841500">
                <a:moveTo>
                  <a:pt x="0" y="0"/>
                </a:moveTo>
                <a:lnTo>
                  <a:pt x="2984500" y="0"/>
                </a:lnTo>
                <a:lnTo>
                  <a:pt x="2984500" y="1841500"/>
                </a:lnTo>
                <a:lnTo>
                  <a:pt x="88900" y="1841500"/>
                </a:lnTo>
                <a:arcTo hR="88900" wR="889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BFBFA"/>
          </a:solidFill>
          <a:ln/>
        </p:spPr>
      </p:sp>
      <p:sp>
        <p:nvSpPr>
          <p:cNvPr id="7" name="Shape 5"/>
          <p:cNvSpPr/>
          <p:nvPr/>
        </p:nvSpPr>
        <p:spPr>
          <a:xfrm>
            <a:off x="4210050" y="3619500"/>
            <a:ext cx="2984500" cy="1841500"/>
          </a:xfrm>
          <a:custGeom>
            <a:avLst/>
            <a:gdLst/>
            <a:ahLst/>
            <a:cxnLst/>
            <a:rect l="l" t="t" r="r" b="b"/>
            <a:pathLst>
              <a:path w="2984500" h="1841500">
                <a:moveTo>
                  <a:pt x="0" y="0"/>
                </a:moveTo>
                <a:lnTo>
                  <a:pt x="2984500" y="0"/>
                </a:lnTo>
                <a:lnTo>
                  <a:pt x="2984500" y="1752600"/>
                </a:lnTo>
                <a:arcTo hR="88900" wR="88900" stAng="0" swAng="5400000"/>
                <a:lnTo>
                  <a:pt x="0" y="1841500"/>
                </a:lnTo>
                <a:lnTo>
                  <a:pt x="0" y="0"/>
                </a:lnTo>
                <a:close/>
              </a:path>
            </a:pathLst>
          </a:custGeom>
          <a:solidFill>
            <a:srgbClr val="F7F7F5"/>
          </a:solidFill>
          <a:ln/>
        </p:spPr>
      </p:sp>
      <p:sp>
        <p:nvSpPr>
          <p:cNvPr id="8" name="Shape 6"/>
          <p:cNvSpPr/>
          <p:nvPr/>
        </p:nvSpPr>
        <p:spPr>
          <a:xfrm>
            <a:off x="1212850" y="1778000"/>
            <a:ext cx="25400" cy="3695700"/>
          </a:xfrm>
          <a:prstGeom prst="rect">
            <a:avLst/>
          </a:prstGeom>
          <a:solidFill>
            <a:srgbClr val="233441"/>
          </a:solidFill>
          <a:ln/>
        </p:spPr>
      </p:sp>
      <p:sp>
        <p:nvSpPr>
          <p:cNvPr id="9" name="Shape 7"/>
          <p:cNvSpPr/>
          <p:nvPr/>
        </p:nvSpPr>
        <p:spPr>
          <a:xfrm>
            <a:off x="1212850" y="5448300"/>
            <a:ext cx="5981700" cy="25400"/>
          </a:xfrm>
          <a:prstGeom prst="rect">
            <a:avLst/>
          </a:prstGeom>
          <a:solidFill>
            <a:srgbClr val="2334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550" y="3613150"/>
            <a:ext cx="5969000" cy="12700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" name="Shape 9"/>
          <p:cNvSpPr/>
          <p:nvPr/>
        </p:nvSpPr>
        <p:spPr>
          <a:xfrm>
            <a:off x="4203700" y="1778000"/>
            <a:ext cx="12700" cy="3683000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187960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Coherente, pero genérico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37050" y="187960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i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y coherente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2550" y="514350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lo uno ni lo otro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37050" y="514350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Personal, pero se contradice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76400" y="2482850"/>
            <a:ext cx="1574800" cy="85586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3A0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4350" y="2590800"/>
            <a:ext cx="1358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con el nombre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4350" y="3017441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barata · inmediata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14900" y="4133850"/>
            <a:ext cx="1638300" cy="85586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3A0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2850" y="4241800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con 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2850" y="4455120"/>
            <a:ext cx="142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memoria ni revisión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8650" y="2228850"/>
            <a:ext cx="1447800" cy="83046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3A0A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33900" y="2324100"/>
            <a:ext cx="1257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 a medida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33900" y="2750741"/>
            <a:ext cx="1257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 · semanas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43550" y="2730500"/>
            <a:ext cx="1524000" cy="734020"/>
          </a:xfrm>
          <a:prstGeom prst="roundRect">
            <a:avLst>
              <a:gd name="adj" fmla="val 50000"/>
            </a:avLst>
          </a:prstGeom>
          <a:solidFill>
            <a:srgbClr val="FF7932"/>
          </a:solidFill>
          <a:ln/>
        </p:spPr>
      </p:sp>
      <p:sp>
        <p:nvSpPr>
          <p:cNvPr id="26" name="Text 24"/>
          <p:cNvSpPr/>
          <p:nvPr/>
        </p:nvSpPr>
        <p:spPr>
          <a:xfrm>
            <a:off x="5645150" y="2857500"/>
            <a:ext cx="1320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StoryMaker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45150" y="31242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USD · horas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6480" y="5537200"/>
            <a:ext cx="6148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Personalización: el destinatario se reconoce 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20000" y="1778000"/>
            <a:ext cx="3708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NOS DIFERENCIA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39050" y="2131020"/>
            <a:ext cx="0" cy="713647"/>
          </a:xfrm>
          <a:prstGeom prst="line">
            <a:avLst/>
          </a:prstGeom>
          <a:noFill/>
          <a:ln w="38100">
            <a:solidFill>
              <a:srgbClr val="FF79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85100" y="2131020"/>
            <a:ext cx="353841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 verdad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85100" y="2418028"/>
            <a:ext cx="353841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Recuerdos, rasgos y elementos pedidos, y se comprueba en el texto que están.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39050" y="2984368"/>
            <a:ext cx="0" cy="713647"/>
          </a:xfrm>
          <a:prstGeom prst="line">
            <a:avLst/>
          </a:prstGeom>
          <a:noFill/>
          <a:ln w="38100">
            <a:solidFill>
              <a:srgbClr val="FF79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85100" y="2984368"/>
            <a:ext cx="353841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Coherente por construcción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85100" y="3271375"/>
            <a:ext cx="353841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Canon, Continuista y Lean: no se publica una historia que se contradice.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39050" y="3837715"/>
            <a:ext cx="0" cy="713647"/>
          </a:xfrm>
          <a:prstGeom prst="line">
            <a:avLst/>
          </a:prstGeom>
          <a:noFill/>
          <a:ln w="38100">
            <a:solidFill>
              <a:srgbClr val="FF79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5100" y="3837715"/>
            <a:ext cx="353841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precio de una plantilla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85100" y="4124722"/>
            <a:ext cx="353841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USD, en horas, y una corrección rehace solo lo afectado.</a:t>
            </a:r>
            <a:endParaRPr lang="en-US" sz="12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71550" y="15748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Calidad narrativa: se lee de principio a fin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CONFIGURACIÓN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entrevista que detecta lo que falta y lo que se contradice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1550" y="1567128"/>
            <a:ext cx="553326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Entrevistador</a:t>
            </a:r>
            <a:r>
              <a:rPr lang="en-US" sz="14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nombre, edad, rasgos, recuerdos, género, tono, nivel de calor, elementos obligatorios y palabras vetadas.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71550" y="2217341"/>
            <a:ext cx="553326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Contradicción real detectada</a:t>
            </a:r>
            <a:r>
              <a:rPr lang="en-US" sz="14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vetar «hospital» choca con el elemento «la cafetería de Valdecilla». La obra no se crea.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1550" y="2867555"/>
            <a:ext cx="553326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libre como contenido no confiable</a:t>
            </a:r>
            <a:r>
              <a:rPr lang="en-US" sz="14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la carta pegada y las respuestas viajan marcadas como dato.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1550" y="3517768"/>
            <a:ext cx="553326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validado con schema</a:t>
            </a:r>
            <a:r>
              <a:rPr lang="en-US" sz="14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(Pydantic, extra=forbid) antes de escribir nada.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54800" y="1573478"/>
            <a:ext cx="4559300" cy="4262173"/>
          </a:xfrm>
          <a:prstGeom prst="roundRect">
            <a:avLst>
              <a:gd name="adj" fmla="val 1937"/>
            </a:avLst>
          </a:prstGeom>
          <a:solidFill>
            <a:srgbClr val="F7F7F5"/>
          </a:solidFill>
          <a:ln w="12700">
            <a:solidFill>
              <a:srgbClr val="E6EA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298917" y="3589007"/>
            <a:ext cx="32709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[Captura: la entrevista en hoja de cuaderno]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  <p:pic>
        <p:nvPicPr>
          <p:cNvPr id="12" name="Image 1" descr="image.png">    </p:cNvPr>
          <p:cNvPicPr>
            <a:picLocks noChangeAspect="1"/>
          </p:cNvPicPr>
          <p:nvPr/>
        </p:nvPicPr>
        <p:blipFill>
          <a:blip r:embed="rId2"/>
          <a:srcRect l="0" r="0" t="2898" b="2898"/>
          <a:stretch/>
        </p:blipFill>
        <p:spPr>
          <a:xfrm>
            <a:off x="6662837" y="1549598"/>
            <a:ext cx="4557647" cy="4256220"/>
          </a:xfrm>
          <a:prstGeom prst="roundRect">
            <a:avLst>
              <a:gd name="adj" fmla="val 2387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LECTURA Y CORRECCIÓN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lee como un libro, y se corrige sin reescribirlo entero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1550" y="1567128"/>
            <a:ext cx="10556367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web con: portada con dedicatoria, índice navegable, «Quién es quién» con enlaces al capítulo, tamaño y tema de lectura, y PDF descargable.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71550" y="2293541"/>
            <a:ext cx="1968500" cy="1442575"/>
          </a:xfrm>
          <a:prstGeom prst="roundRect">
            <a:avLst>
              <a:gd name="adj" fmla="val 6163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1149350" y="2471341"/>
            <a:ext cx="1663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9350" y="2735461"/>
            <a:ext cx="166370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 perro se llama Nala», desde la ficha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41650" y="2293541"/>
            <a:ext cx="1968500" cy="1442575"/>
          </a:xfrm>
          <a:prstGeom prst="roundRect">
            <a:avLst>
              <a:gd name="adj" fmla="val 6163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219450" y="2471341"/>
            <a:ext cx="1663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Sustituye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19450" y="2735461"/>
            <a:ext cx="166370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hecho nuevo que sustituye al anterior; nunca se edita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11750" y="2293541"/>
            <a:ext cx="1968500" cy="1442575"/>
          </a:xfrm>
          <a:prstGeom prst="roundRect">
            <a:avLst>
              <a:gd name="adj" fmla="val 6163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5289550" y="2471341"/>
            <a:ext cx="1663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Regenera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89550" y="2735461"/>
            <a:ext cx="166370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los capítulos que usan el hecho (hecho_usado_en)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81850" y="2293541"/>
            <a:ext cx="1968500" cy="1442575"/>
          </a:xfrm>
          <a:prstGeom prst="roundRect">
            <a:avLst>
              <a:gd name="adj" fmla="val 6163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59650" y="2471341"/>
            <a:ext cx="1663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Revalida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59650" y="2735461"/>
            <a:ext cx="166370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defecto introducido no publica; uno previo, sí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51950" y="2293541"/>
            <a:ext cx="1968500" cy="1442575"/>
          </a:xfrm>
          <a:prstGeom prst="roundRect">
            <a:avLst>
              <a:gd name="adj" fmla="val 6163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9429750" y="2471341"/>
            <a:ext cx="1663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Publica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0" y="2735461"/>
            <a:ext cx="1663700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nueva, marca los capítulos cambiados, conserva la anterior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ARQUITECTURA DEL HARNESS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roles separados: quien escribe no se juzga, quien juzga no repara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1550" y="2020491"/>
            <a:ext cx="1699220" cy="510514"/>
          </a:xfrm>
          <a:prstGeom prst="roundRect">
            <a:avLst>
              <a:gd name="adj" fmla="val 14926"/>
            </a:avLst>
          </a:prstGeom>
          <a:solidFill>
            <a:srgbClr val="1E2D3D"/>
          </a:solidFill>
          <a:ln/>
        </p:spPr>
      </p:sp>
      <p:sp>
        <p:nvSpPr>
          <p:cNvPr id="5" name="Text 3"/>
          <p:cNvSpPr/>
          <p:nvPr/>
        </p:nvSpPr>
        <p:spPr>
          <a:xfrm>
            <a:off x="1022350" y="2160191"/>
            <a:ext cx="15976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Entrevistador</a:t>
            </a:r>
            <a:endParaRPr lang="en-US" sz="13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6970" y="2205899"/>
            <a:ext cx="279400" cy="139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2570" y="2020491"/>
            <a:ext cx="1699287" cy="510514"/>
          </a:xfrm>
          <a:prstGeom prst="roundRect">
            <a:avLst>
              <a:gd name="adj" fmla="val 14926"/>
            </a:avLst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3153370" y="2160191"/>
            <a:ext cx="159768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</a:t>
            </a:r>
            <a:endParaRPr lang="en-US" sz="13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8057" y="2205899"/>
            <a:ext cx="279400" cy="1397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33657" y="2020491"/>
            <a:ext cx="1699220" cy="510514"/>
          </a:xfrm>
          <a:prstGeom prst="roundRect">
            <a:avLst>
              <a:gd name="adj" fmla="val 14926"/>
            </a:avLst>
          </a:prstGeom>
          <a:solidFill>
            <a:srgbClr val="1E2D3D"/>
          </a:solidFill>
          <a:ln/>
        </p:spPr>
      </p:sp>
      <p:sp>
        <p:nvSpPr>
          <p:cNvPr id="11" name="Text 7"/>
          <p:cNvSpPr/>
          <p:nvPr/>
        </p:nvSpPr>
        <p:spPr>
          <a:xfrm>
            <a:off x="5284457" y="2160191"/>
            <a:ext cx="15976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Planificador</a:t>
            </a:r>
            <a:endParaRPr lang="en-US" sz="1300" dirty="0"/>
          </a:p>
        </p:txBody>
      </p:sp>
      <p:pic>
        <p:nvPicPr>
          <p:cNvPr id="1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09078" y="2205899"/>
            <a:ext cx="279400" cy="1397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71028" y="1911285"/>
            <a:ext cx="1711987" cy="728927"/>
          </a:xfrm>
          <a:prstGeom prst="roundRect">
            <a:avLst>
              <a:gd name="adj" fmla="val 9583"/>
            </a:avLst>
          </a:prstGeom>
          <a:solidFill>
            <a:srgbClr val="FFF7F2"/>
          </a:solidFill>
          <a:ln w="12700">
            <a:solidFill>
              <a:srgbClr val="F8C9A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428178" y="2044635"/>
            <a:ext cx="159768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Ensamblador (código)</a:t>
            </a:r>
            <a:endParaRPr lang="en-US" sz="13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65564" y="2205899"/>
            <a:ext cx="279400" cy="1397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521164" y="2020491"/>
            <a:ext cx="1699287" cy="510514"/>
          </a:xfrm>
          <a:prstGeom prst="roundRect">
            <a:avLst>
              <a:gd name="adj" fmla="val 14926"/>
            </a:avLst>
          </a:prstGeom>
          <a:solidFill>
            <a:srgbClr val="1E2D3D"/>
          </a:solidFill>
          <a:ln/>
        </p:spPr>
      </p:sp>
      <p:sp>
        <p:nvSpPr>
          <p:cNvPr id="17" name="Text 11"/>
          <p:cNvSpPr/>
          <p:nvPr/>
        </p:nvSpPr>
        <p:spPr>
          <a:xfrm>
            <a:off x="9571964" y="2160191"/>
            <a:ext cx="159768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977900" y="2971670"/>
            <a:ext cx="1587963" cy="497814"/>
          </a:xfrm>
          <a:prstGeom prst="roundRect">
            <a:avLst>
              <a:gd name="adj" fmla="val 14031"/>
            </a:avLst>
          </a:prstGeom>
          <a:solidFill>
            <a:srgbClr val="FFF7F2"/>
          </a:solidFill>
          <a:ln w="12700">
            <a:solidFill>
              <a:srgbClr val="F8C9A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035050" y="3105020"/>
            <a:ext cx="147366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de policy</a:t>
            </a:r>
            <a:endParaRPr lang="en-US" sz="1300" dirty="0"/>
          </a:p>
        </p:txBody>
      </p:sp>
      <p:pic>
        <p:nvPicPr>
          <p:cNvPr id="20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48413" y="3150726"/>
            <a:ext cx="279400" cy="1397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004013" y="2965320"/>
            <a:ext cx="2144448" cy="510514"/>
          </a:xfrm>
          <a:prstGeom prst="roundRect">
            <a:avLst>
              <a:gd name="adj" fmla="val 14926"/>
            </a:avLst>
          </a:prstGeom>
          <a:solidFill>
            <a:srgbClr val="1E2D3D"/>
          </a:solidFill>
          <a:ln/>
        </p:spPr>
      </p:sp>
      <p:sp>
        <p:nvSpPr>
          <p:cNvPr id="22" name="Text 15"/>
          <p:cNvSpPr/>
          <p:nvPr/>
        </p:nvSpPr>
        <p:spPr>
          <a:xfrm>
            <a:off x="3050332" y="3105020"/>
            <a:ext cx="205180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Continuista ‖ Crítico</a:t>
            </a:r>
            <a:endParaRPr lang="en-US" sz="1300" dirty="0"/>
          </a:p>
        </p:txBody>
      </p:sp>
      <p:pic>
        <p:nvPicPr>
          <p:cNvPr id="23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224661" y="3150726"/>
            <a:ext cx="279400" cy="1397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586611" y="2971670"/>
            <a:ext cx="1587963" cy="497814"/>
          </a:xfrm>
          <a:prstGeom prst="roundRect">
            <a:avLst>
              <a:gd name="adj" fmla="val 14031"/>
            </a:avLst>
          </a:prstGeom>
          <a:solidFill>
            <a:srgbClr val="FFF7F2"/>
          </a:solidFill>
          <a:ln w="12700">
            <a:solidFill>
              <a:srgbClr val="F8C9AE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643761" y="3105020"/>
            <a:ext cx="147366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G1a</a:t>
            </a:r>
            <a:endParaRPr lang="en-US" sz="1300" dirty="0"/>
          </a:p>
        </p:txBody>
      </p:sp>
      <p:pic>
        <p:nvPicPr>
          <p:cNvPr id="26" name="Image 6" descr="arrow-righ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257124" y="3150726"/>
            <a:ext cx="279400" cy="1397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612724" y="2965320"/>
            <a:ext cx="1575263" cy="510514"/>
          </a:xfrm>
          <a:prstGeom prst="roundRect">
            <a:avLst>
              <a:gd name="adj" fmla="val 14926"/>
            </a:avLst>
          </a:prstGeom>
          <a:solidFill>
            <a:srgbClr val="1E2D3D"/>
          </a:solidFill>
          <a:ln/>
        </p:spPr>
      </p:sp>
      <p:sp>
        <p:nvSpPr>
          <p:cNvPr id="28" name="Text 19"/>
          <p:cNvSpPr/>
          <p:nvPr/>
        </p:nvSpPr>
        <p:spPr>
          <a:xfrm>
            <a:off x="7663524" y="3105020"/>
            <a:ext cx="147366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</a:t>
            </a:r>
            <a:endParaRPr lang="en-US" sz="1300" dirty="0"/>
          </a:p>
        </p:txBody>
      </p:sp>
      <p:pic>
        <p:nvPicPr>
          <p:cNvPr id="29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64187" y="3150726"/>
            <a:ext cx="279400" cy="13970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626137" y="2856111"/>
            <a:ext cx="1587963" cy="728927"/>
          </a:xfrm>
          <a:prstGeom prst="roundRect">
            <a:avLst>
              <a:gd name="adj" fmla="val 9583"/>
            </a:avLst>
          </a:prstGeom>
          <a:solidFill>
            <a:srgbClr val="FFF7F2"/>
          </a:solidFill>
          <a:ln w="12700">
            <a:solidFill>
              <a:srgbClr val="F8C9AE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9683287" y="2989461"/>
            <a:ext cx="147366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+ G4 · publicar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971550" y="3794590"/>
            <a:ext cx="3414141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 por capítulo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 defecto vuelve al Escritor con su cita; máximo dos reparaciones dirigidas y, después, escalado.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4438650" y="3794590"/>
            <a:ext cx="3414141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multi-agente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rol con su prompt versionado y su contexto; los defectos son atribuibles.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7905750" y="3794590"/>
            <a:ext cx="3414141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modelo (Haiku 4.5). </a:t>
            </a: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código determinista.</a:t>
            </a:r>
            <a:endParaRPr lang="en-US" sz="13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CONTEXTO, MEMORIA, TOOLS Y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Escritor solo ve lo que el sistema decidió darle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1550" y="1567129"/>
            <a:ext cx="2466975" cy="1500981"/>
          </a:xfrm>
          <a:prstGeom prst="roundRect">
            <a:avLst>
              <a:gd name="adj" fmla="val 5923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971550" y="1567129"/>
            <a:ext cx="2466975" cy="63500"/>
          </a:xfrm>
          <a:custGeom>
            <a:avLst/>
            <a:gdLst/>
            <a:ahLst/>
            <a:cxnLst/>
            <a:rect l="l" t="t" r="r" b="b"/>
            <a:pathLst>
              <a:path w="2466975" h="63500">
                <a:moveTo>
                  <a:pt x="3706" y="63500"/>
                </a:moveTo>
                <a:arcTo hR="88900" wR="88900" stAng="11796093" swAng="4403907"/>
                <a:lnTo>
                  <a:pt x="2378075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6" name="Text 4"/>
          <p:cNvSpPr/>
          <p:nvPr/>
        </p:nvSpPr>
        <p:spPr>
          <a:xfrm>
            <a:off x="1149350" y="1808429"/>
            <a:ext cx="21747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9350" y="2250349"/>
            <a:ext cx="217471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en vuelo como techo, contados en tokens, no en llamadas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5525" y="1567129"/>
            <a:ext cx="2466975" cy="1500981"/>
          </a:xfrm>
          <a:prstGeom prst="roundRect">
            <a:avLst>
              <a:gd name="adj" fmla="val 5923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565525" y="1567129"/>
            <a:ext cx="2466975" cy="63500"/>
          </a:xfrm>
          <a:custGeom>
            <a:avLst/>
            <a:gdLst/>
            <a:ahLst/>
            <a:cxnLst/>
            <a:rect l="l" t="t" r="r" b="b"/>
            <a:pathLst>
              <a:path w="2466975" h="63500">
                <a:moveTo>
                  <a:pt x="3706" y="63500"/>
                </a:moveTo>
                <a:arcTo hR="88900" wR="88900" stAng="11796093" swAng="4403907"/>
                <a:lnTo>
                  <a:pt x="2378075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0" name="Text 8"/>
          <p:cNvSpPr/>
          <p:nvPr/>
        </p:nvSpPr>
        <p:spPr>
          <a:xfrm>
            <a:off x="3743325" y="1808429"/>
            <a:ext cx="21747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capas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43325" y="2250349"/>
            <a:ext cx="217471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contexto con tope propio; se recorta la capa, nunca por el final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9500" y="1567129"/>
            <a:ext cx="2466975" cy="1500981"/>
          </a:xfrm>
          <a:prstGeom prst="roundRect">
            <a:avLst>
              <a:gd name="adj" fmla="val 5923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159500" y="1567129"/>
            <a:ext cx="2466975" cy="63500"/>
          </a:xfrm>
          <a:custGeom>
            <a:avLst/>
            <a:gdLst/>
            <a:ahLst/>
            <a:cxnLst/>
            <a:rect l="l" t="t" r="r" b="b"/>
            <a:pathLst>
              <a:path w="2466975" h="63500">
                <a:moveTo>
                  <a:pt x="3706" y="63500"/>
                </a:moveTo>
                <a:arcTo hR="88900" wR="88900" stAng="11796093" swAng="4403907"/>
                <a:lnTo>
                  <a:pt x="2378075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4" name="Text 12"/>
          <p:cNvSpPr/>
          <p:nvPr/>
        </p:nvSpPr>
        <p:spPr>
          <a:xfrm>
            <a:off x="6337300" y="1808429"/>
            <a:ext cx="21747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37300" y="2250349"/>
            <a:ext cx="217471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bible: ledger append-only, cronología y en qué capítulo se usa cada hecho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53475" y="1567129"/>
            <a:ext cx="2466975" cy="1500981"/>
          </a:xfrm>
          <a:prstGeom prst="roundRect">
            <a:avLst>
              <a:gd name="adj" fmla="val 5923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753475" y="1567129"/>
            <a:ext cx="2466975" cy="63500"/>
          </a:xfrm>
          <a:custGeom>
            <a:avLst/>
            <a:gdLst/>
            <a:ahLst/>
            <a:cxnLst/>
            <a:rect l="l" t="t" r="r" b="b"/>
            <a:pathLst>
              <a:path w="2466975" h="63500">
                <a:moveTo>
                  <a:pt x="3706" y="63500"/>
                </a:moveTo>
                <a:arcTo hR="88900" wR="88900" stAng="11796093" swAng="4403907"/>
                <a:lnTo>
                  <a:pt x="2378075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8" name="Text 16"/>
          <p:cNvSpPr/>
          <p:nvPr/>
        </p:nvSpPr>
        <p:spPr>
          <a:xfrm>
            <a:off x="8931275" y="1808429"/>
            <a:ext cx="21747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31275" y="2250349"/>
            <a:ext cx="217471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capítulo: se reanuda sin duplicar ni perder, probado matando el proceso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1550" y="3296710"/>
            <a:ext cx="5199698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tools, por decisión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ningún agente accede a la base; si falta un dato, falla el ensamblado, no el Escritor.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296710"/>
            <a:ext cx="5199698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hooks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fuera del modelo: validación de capítulo (G1a) y policy (vetos, audit log).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VALIDACIÓN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tipos de validadores, cada uno en su punto del harness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29029"/>
          <a:ext cx="10236200" cy="2849166"/>
        </p:xfrm>
        <a:graphic>
          <a:graphicData uri="http://schemas.openxmlformats.org/drawingml/2006/table">
            <a:tbl>
              <a:tblPr/>
              <a:tblGrid>
                <a:gridCol w="1842516"/>
                <a:gridCol w="5527548"/>
                <a:gridCol w="286613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actúa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Programáticos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de cada rol · extensión 1.000–1.500 · nombres literales · persona y tiempo verbal · palabras prohibidas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 de capítulo (G1a)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Programáticos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 elementos obligatorios contra la tabla de hechos · validación visual en el navegador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antes de publicar (G4)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Semánticos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Continuista contra el grafo de canon · Crítico LLM-as-judge con rúbrica, nota y justificación por criterio · revisión humana con la misma rúbrica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 editor, en paralelo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 · historia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 4 sobre la cronología: nadie en dos lugares a la vez; nadie reaparece tras un evento que lo excluye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Gate: si falla, no se publica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 · sistema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TLA+ y TLC: máquina de estados con retries, checkpoint y regeneración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desarrollo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71550" y="4555995"/>
            <a:ext cx="1055636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validador tiene nombre y envía su resultado a Langfuse como score.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briefs de prueba y una iteración de tuning medida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29029"/>
          <a:ext cx="6142898" cy="2849166"/>
        </p:xfrm>
        <a:graphic>
          <a:graphicData uri="http://schemas.openxmlformats.org/drawingml/2006/table">
            <a:tbl>
              <a:tblPr/>
              <a:tblGrid>
                <a:gridCol w="1842869"/>
                <a:gridCol w="2457159"/>
                <a:gridCol w="1842869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prueba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 jubilación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Outline hecho; cap. 1 sin integrar (caídas)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 inyección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 en texto libre y formulario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63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Neutralizada: cap. 1 aprobado, sin fuga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B3 trampa temporal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Incoherencia que caza Lean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Escaló en el cap. 1 (v1): origen del tuning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B4 veto-colisión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Veto contra elemento obligatorio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Detenido en la entrevista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B5 cobertura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 difícil de cubrir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de 10 capítulos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81148" y="1516329"/>
            <a:ext cx="3839303" cy="1473068"/>
          </a:xfrm>
          <a:prstGeom prst="roundRect">
            <a:avLst>
              <a:gd name="adj" fmla="val 6035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7558948" y="1694129"/>
            <a:ext cx="35882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· escritor v1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58948" y="1958249"/>
            <a:ext cx="358821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de 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58948" y="2400170"/>
            <a:ext cx="3588214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capítulos aprobados: 812, 141 y 621 palabras, escalado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87498" y="3097346"/>
            <a:ext cx="3826603" cy="1485768"/>
          </a:xfrm>
          <a:prstGeom prst="roundRect">
            <a:avLst>
              <a:gd name="adj" fmla="val 5556"/>
            </a:avLst>
          </a:prstGeom>
          <a:solidFill>
            <a:srgbClr val="FFF7F2"/>
          </a:solidFill>
          <a:ln w="12700">
            <a:solidFill>
              <a:srgbClr val="F8C9A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71648" y="3281496"/>
            <a:ext cx="35620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· escritor v2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71648" y="3545616"/>
            <a:ext cx="356205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5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71648" y="3987536"/>
            <a:ext cx="356205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aprobados: 1.010 a 1.443 palabras, cuatro con una reparación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VERIFICACIÓN FORMAL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vigila la historia; TLC vigila el harness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1550" y="1541729"/>
            <a:ext cx="5022850" cy="4300273"/>
          </a:xfrm>
          <a:prstGeom prst="roundRect">
            <a:avLst>
              <a:gd name="adj" fmla="val 2067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1770329"/>
            <a:ext cx="4702620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· gate de publicación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0150" y="2130958"/>
            <a:ext cx="470262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Fichero generado desde la cronología de SQLite. Invariantes: </a:t>
            </a: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sinUbicuidad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sinReaparecidos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0150" y="2694781"/>
            <a:ext cx="47026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Novela entera: 122 filas, 1,7 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0150" y="3027499"/>
            <a:ext cx="470262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real:</a:t>
            </a:r>
            <a:r>
              <a:rPr lang="en-US" sz="130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cazó un evento mal extraído («sale del salón» como partida definitiva) y bloqueó la publicación: 31 reapariciones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7600" y="1541729"/>
            <a:ext cx="5022850" cy="4300273"/>
          </a:xfrm>
          <a:prstGeom prst="roundRect">
            <a:avLst>
              <a:gd name="adj" fmla="val 2067"/>
            </a:avLst>
          </a:prstGeom>
          <a:solidFill>
            <a:srgbClr val="1E2D3D"/>
          </a:solidFill>
          <a:ln/>
        </p:spPr>
      </p:sp>
      <p:sp>
        <p:nvSpPr>
          <p:cNvPr id="10" name="Text 8"/>
          <p:cNvSpPr/>
          <p:nvPr/>
        </p:nvSpPr>
        <p:spPr>
          <a:xfrm>
            <a:off x="6426200" y="1770329"/>
            <a:ext cx="4702620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TLA+ · model checking con TLC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26200" y="2130958"/>
            <a:ext cx="470262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26200" y="2730370"/>
            <a:ext cx="470262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distintos, profundidad 45, cero errores. Tres invariantes de seguridad y una propiedad de liveness.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26200" y="3294199"/>
            <a:ext cx="47026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correspondencia código ↔ spec la comprueba un test.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OBSERVABILIDAD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novela es una sesión en Langfuse</a:t>
            </a:r>
            <a:endParaRPr lang="en-US" sz="2600" dirty="0"/>
          </a:p>
        </p:txBody>
      </p:sp>
      <p:pic>
        <p:nvPicPr>
          <p:cNvPr id="6" name="Image 1" descr="image.png">    </p:cNvPr>
          <p:cNvPicPr>
            <a:picLocks noChangeAspect="1"/>
          </p:cNvPicPr>
          <p:nvPr/>
        </p:nvPicPr>
        <p:blipFill>
          <a:blip r:embed="rId2"/>
          <a:srcRect l="3864" r="3864" t="0" b="0"/>
          <a:stretch/>
        </p:blipFill>
        <p:spPr>
          <a:xfrm>
            <a:off x="4749866" y="1691481"/>
            <a:ext cx="7086203" cy="2627246"/>
          </a:xfrm>
          <a:prstGeom prst="roundRect">
            <a:avLst>
              <a:gd name="adj" fmla="val 3867"/>
            </a:avLst>
          </a:prstGeom>
        </p:spPr>
      </p:pic>
      <p:sp>
        <p:nvSpPr>
          <p:cNvPr id="7" name="Text 3"/>
          <p:cNvSpPr/>
          <p:nvPr/>
        </p:nvSpPr>
        <p:spPr>
          <a:xfrm>
            <a:off x="971550" y="2367359"/>
            <a:ext cx="366268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novela; </a:t>
            </a: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capítulo, outline y publicación.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71550" y="2957909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rol, con id, versión y hash del prompt.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71550" y="3313447"/>
            <a:ext cx="36626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validador y por criterio del juez.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71550" y="3669109"/>
            <a:ext cx="3662680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coste y latencia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llamada, capítulo y novela.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que importan viven en código, no en el prompt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1550" y="1541729"/>
            <a:ext cx="5060950" cy="1274961"/>
          </a:xfrm>
          <a:prstGeom prst="roundRect">
            <a:avLst>
              <a:gd name="adj" fmla="val 697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149350" y="1719529"/>
            <a:ext cx="48465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Palabras prohibidas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9350" y="1998929"/>
            <a:ext cx="484651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niveles en SQLite. Se normaliza antes de comparar: veto «sangre», el texto dice «Sangres» y se detecta. El capítulo vuelve al Escritor con el término.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59500" y="1541729"/>
            <a:ext cx="5060950" cy="1274961"/>
          </a:xfrm>
          <a:prstGeom prst="roundRect">
            <a:avLst>
              <a:gd name="adj" fmla="val 6973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6337300" y="1719529"/>
            <a:ext cx="48465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personales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37300" y="1998929"/>
            <a:ext cx="4846511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real: una cuenta con política corporativa anonimiza todo nombre de persona. El servicio exige proveedor sin esa política o un DPA.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1550" y="2943690"/>
            <a:ext cx="5060950" cy="1061641"/>
          </a:xfrm>
          <a:prstGeom prst="roundRect">
            <a:avLst>
              <a:gd name="adj" fmla="val 8374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1149350" y="3121490"/>
            <a:ext cx="48465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9350" y="3400890"/>
            <a:ext cx="484651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texto aportado y las respuestas del formulario entran marcados como dato, y la marca no se puede cerrar desde dentro.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9500" y="2943690"/>
            <a:ext cx="5060950" cy="1061641"/>
          </a:xfrm>
          <a:prstGeom prst="roundRect">
            <a:avLst>
              <a:gd name="adj" fmla="val 8374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337300" y="3121490"/>
            <a:ext cx="48465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37300" y="3400890"/>
            <a:ext cx="484651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Append-only: qué permitió y qué bloqueó el policy engine, y por qué. También en Langfuse.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PRESUPUESTO Y COSTE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unitario, precio y coste del desarrollo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03629"/>
          <a:ext cx="10236200" cy="2539471"/>
        </p:xfrm>
        <a:graphic>
          <a:graphicData uri="http://schemas.openxmlformats.org/drawingml/2006/table">
            <a:tbl>
              <a:tblPr/>
              <a:tblGrid>
                <a:gridCol w="2763774"/>
                <a:gridCol w="5936996"/>
                <a:gridCol w="1535430"/>
              </a:tblGrid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novela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calcula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del modelo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Medido en Langfuse: 0,49 USD por capítulo × 10, reintentos incluidos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Pasarela de pago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 México: 3,6 % + 3 MXN por cobro, más IVA del 16 % sobre la comisión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Soporte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de cada 4 novelas abre un ticket; soporte tercerizado en México, ~4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Observabilidad extra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~300 unidades de Langfuse por novela, a 8 USD cada 100.000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 unitario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Suma de lo anterior; el servidor y el mantenimiento son fijos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2"/>
                    </a:solidFill>
                  </a:tcPr>
                </a:tc>
              </a:tr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 de venta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Regalo personalizado de gama media, unos 865 MXN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Margen por novela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 menos coste unitario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63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40,83 · 83 %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71550" y="4195502"/>
            <a:ext cx="10248900" cy="467320"/>
          </a:xfrm>
          <a:prstGeom prst="roundRect">
            <a:avLst>
              <a:gd name="adj" fmla="val 19023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1149350" y="4322502"/>
            <a:ext cx="114452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20871" y="4326272"/>
            <a:ext cx="8726185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specs 60 h · Backend y frontend 180 h · Validación y evals 70 h · Despliegue 30 h = </a:t>
            </a:r>
            <a:r>
              <a:rPr lang="en-US" sz="12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 h × 45 USD/h = 15.300 USD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Mercado: México · 1 USD ≈ 17,6 MXN (DOF, 25-09-2026) · fuentes en las notas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PRESUPUESTO Y COSTE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 de volumen y análisis de sensibilidad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03629"/>
          <a:ext cx="10236200" cy="1330590"/>
        </p:xfrm>
        <a:graphic>
          <a:graphicData uri="http://schemas.openxmlformats.org/drawingml/2006/table">
            <a:tbl>
              <a:tblPr/>
              <a:tblGrid>
                <a:gridCol w="2251964"/>
                <a:gridCol w="1944878"/>
                <a:gridCol w="1944878"/>
                <a:gridCol w="1842516"/>
                <a:gridCol w="2251964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Novelas al 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Ingresos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4.900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3.105 USD · 63 %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24.500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4.085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63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19.437 USD · 79 %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98.000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16.340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2.000 USD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79.660 USD · 81 %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71550" y="2986621"/>
            <a:ext cx="105563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</a:t>
            </a: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novelas × 49 USD · </a:t>
            </a:r>
            <a:r>
              <a:rPr lang="en-US" sz="12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novelas × 8,17 USD (tokens, pasarela, soporte) · </a:t>
            </a:r>
            <a:r>
              <a:rPr lang="en-US" sz="12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Fijo</a:t>
            </a: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mes = servidor 29 + Langfuse Core 29 + dominio y correo 20 + mantenimiento 20 h × 45 = 978 USD. A 2.000 novelas: servidor con Postgres gestionado (150) y 40 h de mantenimiento.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77900" y="3572011"/>
            <a:ext cx="5048250" cy="1023541"/>
          </a:xfrm>
          <a:prstGeom prst="roundRect">
            <a:avLst>
              <a:gd name="adj" fmla="val 8065"/>
            </a:avLst>
          </a:prstGeom>
          <a:noFill/>
          <a:ln w="12700">
            <a:solidFill>
              <a:srgbClr val="F879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2050" y="3730761"/>
            <a:ext cx="48203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+50 %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62050" y="4010161"/>
            <a:ext cx="482034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+2,45 USD por novela: el coste unitario pasa a 10,62 y el margen baja del 83 % al 78 %.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65850" y="3572011"/>
            <a:ext cx="5048250" cy="1023541"/>
          </a:xfrm>
          <a:prstGeom prst="roundRect">
            <a:avLst>
              <a:gd name="adj" fmla="val 8065"/>
            </a:avLst>
          </a:prstGeom>
          <a:noFill/>
          <a:ln w="12700">
            <a:solidFill>
              <a:srgbClr val="F879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0000" y="3730761"/>
            <a:ext cx="48203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tres revisiones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0000" y="4010161"/>
            <a:ext cx="482034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una regenera solo los capítulos afectados, a 0,49 USD cada uno. Tres incluidas; desde la cuarta, 4,90 USD.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Mercado: México · fuentes del fijo en las notas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RIESGOS Y SIGUIENTES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riesgos que vimos en la corrida real, y qué haríamos después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29029"/>
          <a:ext cx="10236200" cy="3410678"/>
        </p:xfrm>
        <a:graphic>
          <a:graphicData uri="http://schemas.openxmlformats.org/drawingml/2006/table">
            <a:tbl>
              <a:tblPr/>
              <a:tblGrid>
                <a:gridCol w="2456688"/>
                <a:gridCol w="3889756"/>
                <a:gridCol w="3889756"/>
              </a:tblGrid>
              <a:tr h="317434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ya lo contiene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Siguiente paso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Límites de uso del proveedor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cuota paró la novela en el capítulo 4; el checkpoint la retomó sin perder nada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con cuota garantizada y una cola que reparta las novelas en el tiempo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admite un solo escritor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 antes de cada llamada, espera de 30 s y reanudación automática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 al escalar: el acceso a datos ya está aislado en repositorios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juez comparte modelo con el Escritor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Revisión humana con la misma rúbrica del juez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Juez en otro modelo: una constante; unos 8,8 USD por novela con Opus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personales del destinatario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salen al proveedor y a Langfuse; la base no sale de la máquina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DPA con el proveedor y aviso de privacidad (LFPDPPP), con retención y borrado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Extractor escribe mal el canon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Validadores tolerantes y Lean como red: cazó un error real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y esquema que distingan personaje, objeto y lugar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coste triplica la estimación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margen del 83 % lo absorbe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Menos reparaciones y un Continuista más barato: es el 43 % del coste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Detalle en el anexo A5 y en specs/problemas-abiertos.md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DEMO Y CIERRE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del lector que se propaga, y lo que proponemos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71550" y="1543050"/>
            <a:ext cx="418592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1550" y="1901168"/>
            <a:ext cx="418592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El lector corrige un hecho desde «Quién es quién».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Solo se regeneran los capítulos que lo usan.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Versión nueva, con los capítulos marcados; la anterior se conserva.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1550" y="2868749"/>
            <a:ext cx="418592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1550" y="3226860"/>
            <a:ext cx="41859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de Lean al Escritor · linters de prosa · servidor MCP de lectura · decisión sobre escalados en la app · dedicatoria en la entrevista.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77900" y="3987471"/>
            <a:ext cx="4051300" cy="1005747"/>
          </a:xfrm>
          <a:prstGeom prst="roundRect">
            <a:avLst>
              <a:gd name="adj" fmla="val 8208"/>
            </a:avLst>
          </a:prstGeom>
          <a:noFill/>
          <a:ln w="12700">
            <a:solidFill>
              <a:srgbClr val="F879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9350" y="4133521"/>
            <a:ext cx="38196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9350" y="4384942"/>
            <a:ext cx="381965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piloto de 100 novelas con Regalos con Historia.</a:t>
            </a:r>
            <a:endParaRPr lang="en-US" sz="1400" dirty="0"/>
          </a:p>
        </p:txBody>
      </p:sp>
      <p:pic>
        <p:nvPicPr>
          <p:cNvPr id="13" name="Image 1" descr="image.png">    </p:cNvPr>
          <p:cNvPicPr>
            <a:picLocks noChangeAspect="1"/>
          </p:cNvPicPr>
          <p:nvPr/>
        </p:nvPicPr>
        <p:blipFill>
          <a:blip r:embed="rId2"/>
          <a:srcRect l="-16215" r="-16215" t="0" b="0"/>
          <a:stretch/>
        </p:blipFill>
        <p:spPr>
          <a:xfrm>
            <a:off x="5238750" y="1543050"/>
            <a:ext cx="54229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3775" y="485775"/>
            <a:ext cx="5886450" cy="5886450"/>
          </a:xfrm>
          <a:prstGeom prst="roundRect">
            <a:avLst>
              <a:gd name="adj" fmla="val 27454"/>
            </a:avLst>
          </a:prstGeom>
          <a:noFill/>
          <a:ln w="19050">
            <a:solidFill>
              <a:srgbClr val="FBA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05775" y="1247775"/>
            <a:ext cx="4362450" cy="4362450"/>
          </a:xfrm>
          <a:prstGeom prst="roundRect">
            <a:avLst>
              <a:gd name="adj" fmla="val 37045"/>
            </a:avLst>
          </a:prstGeom>
          <a:noFill/>
          <a:ln w="19050">
            <a:solidFill>
              <a:srgbClr val="FBA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7775" y="2009775"/>
            <a:ext cx="2838450" cy="28384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BAA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pic>
        <p:nvPicPr>
          <p:cNvPr id="6" name="Image 1" descr="Qaracter">    </p:cNvPr>
          <p:cNvPicPr>
            <a:picLocks noChangeAspect="1"/>
          </p:cNvPicPr>
          <p:nvPr/>
        </p:nvPicPr>
        <p:blipFill>
          <a:blip r:embed="rId2"/>
          <a:srcRect l="0" r="0" t="-27931" b="-27931"/>
          <a:stretch/>
        </p:blipFill>
        <p:spPr>
          <a:xfrm>
            <a:off x="927100" y="2159000"/>
            <a:ext cx="1962150" cy="717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3800" y="2984500"/>
            <a:ext cx="588645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your challenge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193800" y="4064000"/>
            <a:ext cx="588645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93800" y="4381500"/>
            <a:ext cx="588645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mauricio.jimenez@qaracter.com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www.qaracter.com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3775" y="485775"/>
            <a:ext cx="5886450" cy="5886450"/>
          </a:xfrm>
          <a:prstGeom prst="roundRect">
            <a:avLst>
              <a:gd name="adj" fmla="val 27454"/>
            </a:avLst>
          </a:prstGeom>
          <a:noFill/>
          <a:ln w="19050">
            <a:solidFill>
              <a:srgbClr val="FBA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05775" y="1247775"/>
            <a:ext cx="4362450" cy="4362450"/>
          </a:xfrm>
          <a:prstGeom prst="roundRect">
            <a:avLst>
              <a:gd name="adj" fmla="val 37045"/>
            </a:avLst>
          </a:prstGeom>
          <a:noFill/>
          <a:ln w="19050">
            <a:solidFill>
              <a:srgbClr val="FBAA8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3800" y="2540000"/>
            <a:ext cx="588645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93800" y="2857500"/>
            <a:ext cx="6540500" cy="61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técnico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193800" y="3810000"/>
            <a:ext cx="6540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Arquitectura · A2 TLA+ · A3 Evals y tuning · A4 Modelo de datos · A5 Red-team · A6 Modelos y coste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ARQUITECTURA DEL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feature, con fronteras que comprueba la build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1550" y="1516335"/>
            <a:ext cx="5022850" cy="1869215"/>
          </a:xfrm>
          <a:prstGeom prst="roundRect">
            <a:avLst>
              <a:gd name="adj" fmla="val 4756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174750" y="1719535"/>
            <a:ext cx="475494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FastAPI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4750" y="2039541"/>
            <a:ext cx="475494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features: obra, outline, escena, contexto, escritura, calidad, canon, manuscrito, auditoria. Solo importan de commons/ y del __init__ de otra feature: import-linter.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4750" y="2755702"/>
            <a:ext cx="475494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largas como trabajos en segundo plano, con estado legible por capítulo.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1516335"/>
            <a:ext cx="5022850" cy="1869215"/>
          </a:xfrm>
          <a:prstGeom prst="roundRect">
            <a:avLst>
              <a:gd name="adj" fmla="val 4756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719535"/>
            <a:ext cx="475494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React 19 + Vite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039541"/>
            <a:ext cx="475494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Feature-first: shared/ nunca importa de features/; las features no se importan entre sí; se entra por index.ts. ESLint lo bloquea.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542381"/>
            <a:ext cx="475494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generado desde el OpenAPI; TanStack Query para el estado de servidor.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71550" y="3563342"/>
            <a:ext cx="3331633" cy="972741"/>
          </a:xfrm>
          <a:prstGeom prst="roundRect">
            <a:avLst>
              <a:gd name="adj" fmla="val 9139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" y="3563342"/>
            <a:ext cx="3331633" cy="63500"/>
          </a:xfrm>
          <a:custGeom>
            <a:avLst/>
            <a:gdLst/>
            <a:ahLst/>
            <a:cxnLst/>
            <a:rect l="l" t="t" r="r" b="b"/>
            <a:pathLst>
              <a:path w="3331633" h="63500">
                <a:moveTo>
                  <a:pt x="3706" y="63500"/>
                </a:moveTo>
                <a:arcTo hR="88900" wR="88900" stAng="11796093" swAng="4403907"/>
                <a:lnTo>
                  <a:pt x="3242733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950" y="3779242"/>
            <a:ext cx="311763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23950" y="4170363"/>
            <a:ext cx="31176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 backend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0183" y="3563342"/>
            <a:ext cx="3331633" cy="972741"/>
          </a:xfrm>
          <a:prstGeom prst="roundRect">
            <a:avLst>
              <a:gd name="adj" fmla="val 9139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0183" y="3563342"/>
            <a:ext cx="3331633" cy="63500"/>
          </a:xfrm>
          <a:custGeom>
            <a:avLst/>
            <a:gdLst/>
            <a:ahLst/>
            <a:cxnLst/>
            <a:rect l="l" t="t" r="r" b="b"/>
            <a:pathLst>
              <a:path w="3331633" h="63500">
                <a:moveTo>
                  <a:pt x="3706" y="63500"/>
                </a:moveTo>
                <a:arcTo hR="88900" wR="88900" stAng="11796093" swAng="4403907"/>
                <a:lnTo>
                  <a:pt x="3242733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8" name="Text 16"/>
          <p:cNvSpPr/>
          <p:nvPr/>
        </p:nvSpPr>
        <p:spPr>
          <a:xfrm>
            <a:off x="4582583" y="3779242"/>
            <a:ext cx="311763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82583" y="4170363"/>
            <a:ext cx="31176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 frontend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88817" y="3563342"/>
            <a:ext cx="3331633" cy="972741"/>
          </a:xfrm>
          <a:prstGeom prst="roundRect">
            <a:avLst>
              <a:gd name="adj" fmla="val 9139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7888817" y="3563342"/>
            <a:ext cx="3331633" cy="63500"/>
          </a:xfrm>
          <a:custGeom>
            <a:avLst/>
            <a:gdLst/>
            <a:ahLst/>
            <a:cxnLst/>
            <a:rect l="l" t="t" r="r" b="b"/>
            <a:pathLst>
              <a:path w="3331633" h="63500">
                <a:moveTo>
                  <a:pt x="3706" y="63500"/>
                </a:moveTo>
                <a:arcTo hR="88900" wR="88900" stAng="11796093" swAng="4403907"/>
                <a:lnTo>
                  <a:pt x="3242733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22" name="Text 20"/>
          <p:cNvSpPr/>
          <p:nvPr/>
        </p:nvSpPr>
        <p:spPr>
          <a:xfrm>
            <a:off x="8041217" y="3779242"/>
            <a:ext cx="311763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41217" y="4170363"/>
            <a:ext cx="31176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al modelo en los tests</a:t>
            </a:r>
            <a:endParaRPr lang="en-US" sz="12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· TLA+ DEL HARNESS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estados, tres invariantes y una propiedad de liveness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29035"/>
          <a:ext cx="10236200" cy="1663237"/>
        </p:xfrm>
        <a:graphic>
          <a:graphicData uri="http://schemas.openxmlformats.org/drawingml/2006/table">
            <a:tbl>
              <a:tblPr/>
              <a:tblGrid>
                <a:gridCol w="3275584"/>
                <a:gridCol w="69606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Propiedad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garantiza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Nunca se publica un capítulo que no pasó sus validadores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reanudación desde checkpoint no duplica ni pierde capítulos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reintentos por capítulo no superan el límite de 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 generación termina: publica o se detiene con motivo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71550" y="3370064"/>
            <a:ext cx="10248900" cy="833041"/>
          </a:xfrm>
          <a:prstGeom prst="roundRect">
            <a:avLst>
              <a:gd name="adj" fmla="val 10672"/>
            </a:avLst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225550" y="3573264"/>
            <a:ext cx="118156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65.601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distintos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37313" y="3573264"/>
            <a:ext cx="10977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profundidad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65269" y="3573264"/>
            <a:ext cx="52314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8617" y="3573264"/>
            <a:ext cx="61262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formal/tla/Harness.tla · un test comprueba que el código y la spec tienen los mismos estados y transiciones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· EVALS Y 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cambió en el prompt del Escritor y qué se midió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29035"/>
          <a:ext cx="10236200" cy="1995884"/>
        </p:xfrm>
        <a:graphic>
          <a:graphicData uri="http://schemas.openxmlformats.org/drawingml/2006/table">
            <a:tbl>
              <a:tblPr/>
              <a:tblGrid>
                <a:gridCol w="3070860"/>
                <a:gridCol w="3582670"/>
                <a:gridCol w="3582670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escritor v1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escritor v2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pedía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Restricción dura, al principio y al final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Reparación EST-02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Citaba el capítulo y pedía no tocarlo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Dice cuántas palabras hay y cuántas faltan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Primer intento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812 · 141 · 621 palabras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802 a 935 palabras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Capítulos aprobados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de 1, escalado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463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de 5, 4 con una reparación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Extensión final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1.010 a 1.443 palabras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71550" y="3702720"/>
            <a:ext cx="1055636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Evals: 5 briefs versionados en evals/, ejecutados con correr.py y tabulados con tabla.py desde Langfuse. Revisión humana con la misma rúbrica del juez: [pendiente, sobre la novela de ejemplo].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· MODELO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base SQLite: la story bible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29035"/>
          <a:ext cx="10236200" cy="2328532"/>
        </p:xfrm>
        <a:graphic>
          <a:graphicData uri="http://schemas.openxmlformats.org/drawingml/2006/table">
            <a:tbl>
              <a:tblPr/>
              <a:tblGrid>
                <a:gridCol w="3275584"/>
                <a:gridCol w="69606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guarda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 y hechos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Ledger append-only; corregir es registrar un hecho que sustituye y cita al anterior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en T y cronología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Vistas derivadas del ledger; nunca se editan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por capítulo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hecho_usado_en: qué capítulos regenerar ante una petición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Versiones publicadas inmutables; una regeneración crea otra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Plantilla, hash, modelo, semilla, IDs recuperados, desglose por capa y coste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Vetos y auditoría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Tres ámbitos de palabras prohibidas y registro de auditoría append-only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71550" y="4035363"/>
            <a:ext cx="1055636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WAL, foreign_keys y busy_timeout de 30 s; migraciones con Alembic. Recuperación: filtro estructural primero, afinidad de vectores después.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· RED-TEAM Y CORRIDA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rompió la corrida real y cómo se cerró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4250" y="1529035"/>
          <a:ext cx="10236200" cy="2993827"/>
        </p:xfrm>
        <a:graphic>
          <a:graphicData uri="http://schemas.openxmlformats.org/drawingml/2006/table">
            <a:tbl>
              <a:tblPr/>
              <a:tblGrid>
                <a:gridCol w="3685032"/>
                <a:gridCol w="6551168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Hallazgo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is locked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 antes de cada llamada, busy_timeout de 30 s y reanudación automática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8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Outline sin beats o fuera de schema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reparación dirigida con el motivo; 409 en vez de 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Capítulos cortos (EST-02)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Escritor v2 y reparación con el recuento de palabras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 mal formada (Extractor, Continuista)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reparación; un id numérico se normaliza a texto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PER-02 con nombres duplicados en el canon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acepta una forma declarada en cualquier entidad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Lean: tiempos vagos y 122 filas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emparejan momentos con cifra; decide +kernel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 cazó un evento mal extraído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 que sustituye (sustituye_a), sin editar el ledger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cobertura no veía la bufanda roja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334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hecho cuenta como usado donde nace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550" y="71120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· MODELOS Y COSTE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1550" y="975320"/>
            <a:ext cx="10556367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50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 en todos los roles, con el coste medido delante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1550" y="1516335"/>
            <a:ext cx="3314700" cy="1445154"/>
          </a:xfrm>
          <a:prstGeom prst="roundRect">
            <a:avLst>
              <a:gd name="adj" fmla="val 6152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971550" y="1516335"/>
            <a:ext cx="3314700" cy="63500"/>
          </a:xfrm>
          <a:custGeom>
            <a:avLst/>
            <a:gdLst/>
            <a:ahLst/>
            <a:cxnLst/>
            <a:rect l="l" t="t" r="r" b="b"/>
            <a:pathLst>
              <a:path w="3314700" h="63500">
                <a:moveTo>
                  <a:pt x="3706" y="63500"/>
                </a:moveTo>
                <a:arcTo hR="88900" wR="88900" stAng="11796093" swAng="4403907"/>
                <a:lnTo>
                  <a:pt x="3225800" y="0"/>
                </a:lnTo>
                <a:arcTo hR="88900" wR="88900" stAng="16200000" swAng="4403907"/>
                <a:close/>
              </a:path>
            </a:pathLst>
          </a:custGeom>
          <a:solidFill>
            <a:srgbClr val="6B7682"/>
          </a:solidFill>
          <a:ln/>
        </p:spPr>
      </p:sp>
      <p:sp>
        <p:nvSpPr>
          <p:cNvPr id="6" name="Text 4"/>
          <p:cNvSpPr/>
          <p:nvPr/>
        </p:nvSpPr>
        <p:spPr>
          <a:xfrm>
            <a:off x="1149350" y="1757635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EN OPUS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9350" y="2021756"/>
            <a:ext cx="304787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~8,8 USD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9350" y="2570361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novela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8650" y="1516335"/>
            <a:ext cx="3314700" cy="1445154"/>
          </a:xfrm>
          <a:prstGeom prst="roundRect">
            <a:avLst>
              <a:gd name="adj" fmla="val 6152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438650" y="1516335"/>
            <a:ext cx="3314700" cy="63500"/>
          </a:xfrm>
          <a:custGeom>
            <a:avLst/>
            <a:gdLst/>
            <a:ahLst/>
            <a:cxnLst/>
            <a:rect l="l" t="t" r="r" b="b"/>
            <a:pathLst>
              <a:path w="3314700" h="63500">
                <a:moveTo>
                  <a:pt x="3706" y="63500"/>
                </a:moveTo>
                <a:arcTo hR="88900" wR="88900" stAng="11796093" swAng="4403907"/>
                <a:lnTo>
                  <a:pt x="3225800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1" name="Text 9"/>
          <p:cNvSpPr/>
          <p:nvPr/>
        </p:nvSpPr>
        <p:spPr>
          <a:xfrm>
            <a:off x="4616450" y="1757635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HAIKU 4.5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6450" y="2021756"/>
            <a:ext cx="304787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~4,9 USD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6450" y="2570361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novela · medido en Langfuse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05750" y="1516335"/>
            <a:ext cx="3314700" cy="1445154"/>
          </a:xfrm>
          <a:prstGeom prst="roundRect">
            <a:avLst>
              <a:gd name="adj" fmla="val 6152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5750" y="1516335"/>
            <a:ext cx="3314700" cy="63500"/>
          </a:xfrm>
          <a:custGeom>
            <a:avLst/>
            <a:gdLst/>
            <a:ahLst/>
            <a:cxnLst/>
            <a:rect l="l" t="t" r="r" b="b"/>
            <a:pathLst>
              <a:path w="3314700" h="63500">
                <a:moveTo>
                  <a:pt x="3706" y="63500"/>
                </a:moveTo>
                <a:arcTo hR="88900" wR="88900" stAng="11796093" swAng="4403907"/>
                <a:lnTo>
                  <a:pt x="3225800" y="0"/>
                </a:lnTo>
                <a:arcTo hR="88900" wR="88900" stAng="16200000" swAng="4403907"/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16" name="Text 14"/>
          <p:cNvSpPr/>
          <p:nvPr/>
        </p:nvSpPr>
        <p:spPr>
          <a:xfrm>
            <a:off x="8083550" y="1757635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DEL CLI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83550" y="2021756"/>
            <a:ext cx="304787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~1.200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083550" y="2570361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por llamada, reservados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1550" y="3139281"/>
            <a:ext cx="1055636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pierde:</a:t>
            </a: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juez que comparte modelo con el Escritor tiende a aprobar su propio estilo. La constante del juez está separada para revertirlo con una línea.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1550" y="3779317"/>
            <a:ext cx="1055636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Reparto medido: Continuista 43 % · Escritor 21 % · Crítico 19 % · Extractor 10 % · Planificador 7 %.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895" b="-7895"/>
          <a:stretch/>
        </p:blipFill>
        <p:spPr>
          <a:xfrm>
            <a:off x="11049000" y="609600"/>
            <a:ext cx="361950" cy="4191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71550" y="6289080"/>
            <a:ext cx="1055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 · StoryMaker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PptxGenJS Presentation</dc:subject>
  <dc:creator>PptxGenJS</dc:creator>
  <cp:lastModifiedBy>PptxGenJS</cp:lastModifiedBy>
  <cp:revision>1</cp:revision>
  <dcterms:created xsi:type="dcterms:W3CDTF">2026-09-25T15:01:59Z</dcterms:created>
  <dcterms:modified xsi:type="dcterms:W3CDTF">2026-09-25T15:01:59Z</dcterms:modified>
</cp:coreProperties>
</file>