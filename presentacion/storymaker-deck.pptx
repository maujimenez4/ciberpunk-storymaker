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Qaracter presenta a Regalos con Historia la propuesta StoryMaker: un sistema agéntico que escribe novelas de regalo de diez capítulos, personalizadas y verificadas. Ocasión: propuesta formal técnico-comercial.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dimensiones igual de importantes: personalización y calidad narrativa. Una no rescata a la otra.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contradicción del veto y el hospital salió de la eval B4 en la corrida real: el Entrevistador la cazó antes de gastar una sola llamada de escritura.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CA-25. Las rutas de lectura van por token: quien lee nunca ve el identificador de la obra.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Ensamblador es código para que un fallo sea reproducible. El Continuista y el Crítico corren en paralelo dentro del techo de 100.000 tokens concurrentes. El Editor de línea y el Auditor son roles del diseño aún no desplegados.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Sobrecarga medida del CLI: unos 1.200 tokens por llamada, reservados en cada turno. Checkpoint probado en los seis estados no terminales.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completa en docs/verification.md. La validación visual se ejecuta sobre la lectura publicada; hoy no bloquea (declarado en trade-offs T-36).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real: la batería no llegó entera a Lean ni a G4, porque la cuota y las caídas de la base cortaron B1, B3 y B5. Sí dio tres resultados: B2 neutralizó la inyección (español, tercera persona, sin fuga de instrucciones), B4 se detuvo en la entrevista y B3 disparó el tuning. La novela de ejemplo sí recorrió todas las puertas: 10 de 10 y publicada. El tuning: la v1 no pedía extensión y la reparación ordenaba dejar intacto el texto; la v2 declara la extensión como restricción dura y la reparación dice cuántas palabras faltan. Detalle en evals/tuning.md y anexo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Invariantes de TLA+: nunca se publica un capítulo sin pasar sus validadores; la reanudación no duplica ni pierde capítulos; los reintentos no superan el límite. Liveness: toda generación termina publicando o deteniéndose. El caso real salió de la novela de ejemplo, no de B3: el Extractor anotó una salida de escena como exclusión de la historia. Se corrigió con un evento que sustituye al original, sin editar el ledger. Punto ciego declarado: los momentos vagos («madrugada») ya no se emparejan.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Parcial declarado: el Entrevistador todavía no entra en la sesión, porque la obra no existe durante la entrevista (trade-offs T-35).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Edad y nivel de calor también se validan en código: ningún contenido romántico con menores es una regla de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Tokens: medido en Langfuse sobre la novela de ejemplo, capítulos 4 a 10: 3,45 USD en 79 llamadas, reintentos incluidos. Unos 0,49 USD por capítulo, 4,9 USD por novela, unos 4,50 €. La estimación previa (1,5 USD) se quedaba corta a un tercio: el Continuista solo ya es el 43 % del coste. Infraestructura: una VM pequeña, unos 40 € al mes, entre unas 200 novelas. Pago y soporte: comisión de pasarela más atención. Horas: estimadas desde los planes y el historial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Fijo: infraestructura base 150 € y mantenimiento 1.500 € al mes; a 2.000 novelas se duplica el mantenimiento. Variable con el coste real de Langfuse: 4,50 € de tokens, 0,20 € de infraestructura y 2,50 € de pasarela y soporte.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demo es evidencia obligatoria: un cambio del lector propagado solo a los capítulos que usan el hecho, conservando la versión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Contraportada con los datos de contacto de la empresa presentadora.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Anexos para preguntas; no entran en los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cliente de modelo se inyecta; en pruebas se usa un doble con respuestas fijas.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diez estados de maquina.py: del pendiente al publicado, con reparación, escalado y regeneración.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intento de 141 palabras era metacomentario, no prosa: la v1 le pedía conservar un texto que no llegaba al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vector es léxico y local, no semántico: sin proveedor de embeddings. Es una decisión de producto declarada.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salieron de la corrida real y cada arreglo tiene su test. Las dos correcciones de datos (el trabajo escalado del capítulo 10 y el evento 60) fueron decisión humana y constan en el registro de auditoría. Registro completo en docs/proceso/.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 clave de API: acceso por consumo de cuenta; el coste se deriva de los tokens y de la tarifa declarada.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84800" y="584200"/>
            <a:ext cx="6045200" cy="5689600"/>
          </a:xfrm>
          <a:prstGeom prst="roundRect">
            <a:avLst>
              <a:gd name="adj" fmla="val 3795"/>
            </a:avLst>
          </a:prstGeom>
          <a:solidFill>
            <a:srgbClr val="FF7932"/>
          </a:solidFill>
          <a:ln/>
        </p:spPr>
      </p:sp>
      <p:pic>
        <p:nvPicPr>
          <p:cNvPr id="3" name="Image 0" descr="Qarac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17600" y="939800"/>
            <a:ext cx="1778000" cy="419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30300" y="2667000"/>
            <a:ext cx="40551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· STORYMAKER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130300" y="2984500"/>
            <a:ext cx="4055110" cy="15615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24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Novelas personalizadas, escritas y verificadas por agentes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117600" y="5080000"/>
            <a:ext cx="476250" cy="38100"/>
          </a:xfrm>
          <a:prstGeom prst="rect">
            <a:avLst/>
          </a:prstGeom>
          <a:solidFill>
            <a:srgbClr val="FF7932"/>
          </a:solidFill>
          <a:ln/>
        </p:spPr>
      </p:sp>
      <p:sp>
        <p:nvSpPr>
          <p:cNvPr id="7" name="Text 4"/>
          <p:cNvSpPr/>
          <p:nvPr/>
        </p:nvSpPr>
        <p:spPr>
          <a:xfrm>
            <a:off x="1130300" y="5588000"/>
            <a:ext cx="40551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76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YOUR CHALLENGE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873750" y="1270000"/>
            <a:ext cx="5363210" cy="200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5200" dirty="0"/>
          </a:p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endParaRPr lang="en-US" sz="5200" dirty="0"/>
          </a:p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Challenge.</a:t>
            </a:r>
            <a:endParaRPr lang="en-US" sz="5200" dirty="0"/>
          </a:p>
        </p:txBody>
      </p:sp>
      <p:sp>
        <p:nvSpPr>
          <p:cNvPr id="9" name="Shape 6"/>
          <p:cNvSpPr/>
          <p:nvPr/>
        </p:nvSpPr>
        <p:spPr>
          <a:xfrm>
            <a:off x="5861050" y="4699000"/>
            <a:ext cx="5099050" cy="12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5873750" y="4889500"/>
            <a:ext cx="1638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73750" y="5143500"/>
            <a:ext cx="16383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Regalos con Historia S.L.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15250" y="4889500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15250" y="5143500"/>
            <a:ext cx="13843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 2026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239250" y="48895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ESTUDIANTE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9250" y="5143500"/>
            <a:ext cx="19621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Mauricio Jiménez</a:t>
            </a:r>
            <a:endParaRPr lang="en-US" sz="14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Ortiz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EL PROBLEMA Y EL CLIENTE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regalo que tiene que ser suyo, y además leerse bien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92528"/>
            <a:ext cx="3314700" cy="1765168"/>
          </a:xfrm>
          <a:prstGeom prst="roundRect">
            <a:avLst>
              <a:gd name="adj" fmla="val 5036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971550" y="1592528"/>
            <a:ext cx="3314700" cy="1765168"/>
          </a:xfrm>
          <a:custGeom>
            <a:avLst/>
            <a:gdLst/>
            <a:ahLst/>
            <a:cxnLst/>
            <a:rect l="l" t="t" r="r" b="b"/>
            <a:pathLst>
              <a:path w="3314700" h="1765168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3225800" y="0"/>
                </a:lnTo>
                <a:arcTo hR="88900" wR="88900" stAng="16200000" swAng="5400000"/>
                <a:lnTo>
                  <a:pt x="3314700" y="88900"/>
                </a:lnTo>
                <a:arcTo hR="25400" wR="88900" stAng="0" swAng="-5400000"/>
                <a:lnTo>
                  <a:pt x="88900" y="63500"/>
                </a:lnTo>
                <a:arcTo hR="254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6" name="Text 4"/>
          <p:cNvSpPr/>
          <p:nvPr/>
        </p:nvSpPr>
        <p:spPr>
          <a:xfrm>
            <a:off x="1200150" y="1884628"/>
            <a:ext cx="294322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compra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00150" y="2204641"/>
            <a:ext cx="2943225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regala: a un hijo, a la pareja, en una boda, un aniversario o una jubilación.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8650" y="1592528"/>
            <a:ext cx="3314700" cy="1765168"/>
          </a:xfrm>
          <a:prstGeom prst="roundRect">
            <a:avLst>
              <a:gd name="adj" fmla="val 5036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438650" y="1592528"/>
            <a:ext cx="3314700" cy="1765168"/>
          </a:xfrm>
          <a:custGeom>
            <a:avLst/>
            <a:gdLst/>
            <a:ahLst/>
            <a:cxnLst/>
            <a:rect l="l" t="t" r="r" b="b"/>
            <a:pathLst>
              <a:path w="3314700" h="1765168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3225800" y="0"/>
                </a:lnTo>
                <a:arcTo hR="88900" wR="88900" stAng="16200000" swAng="5400000"/>
                <a:lnTo>
                  <a:pt x="3314700" y="88900"/>
                </a:lnTo>
                <a:arcTo hR="25400" wR="88900" stAng="0" swAng="-5400000"/>
                <a:lnTo>
                  <a:pt x="88900" y="63500"/>
                </a:lnTo>
                <a:arcTo hR="254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0" name="Text 8"/>
          <p:cNvSpPr/>
          <p:nvPr/>
        </p:nvSpPr>
        <p:spPr>
          <a:xfrm>
            <a:off x="4667250" y="1884628"/>
            <a:ext cx="294322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necesita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7250" y="2204641"/>
            <a:ext cx="2943225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destinatario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reconozca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que la novela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lea de principio a fin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 tropezar.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05750" y="1592528"/>
            <a:ext cx="3314700" cy="1765168"/>
          </a:xfrm>
          <a:prstGeom prst="roundRect">
            <a:avLst>
              <a:gd name="adj" fmla="val 5036"/>
            </a:avLst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05750" y="1592528"/>
            <a:ext cx="3314700" cy="1765168"/>
          </a:xfrm>
          <a:custGeom>
            <a:avLst/>
            <a:gdLst/>
            <a:ahLst/>
            <a:cxnLst/>
            <a:rect l="l" t="t" r="r" b="b"/>
            <a:pathLst>
              <a:path w="3314700" h="1765168">
                <a:moveTo>
                  <a:pt x="0" y="88900"/>
                </a:moveTo>
                <a:lnTo>
                  <a:pt x="0" y="88900"/>
                </a:lnTo>
                <a:arcTo hR="88900" wR="88900" stAng="10800000" swAng="5400000"/>
                <a:lnTo>
                  <a:pt x="3225800" y="0"/>
                </a:lnTo>
                <a:arcTo hR="88900" wR="88900" stAng="16200000" swAng="5400000"/>
                <a:lnTo>
                  <a:pt x="3314700" y="88900"/>
                </a:lnTo>
                <a:arcTo hR="25400" wR="88900" stAng="0" swAng="-5400000"/>
                <a:lnTo>
                  <a:pt x="88900" y="63500"/>
                </a:lnTo>
                <a:arcTo hR="25400" wR="88900" stAng="16200000" swAng="-5400000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4" name="Text 12"/>
          <p:cNvSpPr/>
          <p:nvPr/>
        </p:nvSpPr>
        <p:spPr>
          <a:xfrm>
            <a:off x="8134350" y="1884628"/>
            <a:ext cx="294322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fallan hoy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34350" y="2204641"/>
            <a:ext cx="2943225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Plantillas con el nombre cambiado; escritores a medida caros y lentos; un chatbot sin memoria que se contradice.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7900" y="3618045"/>
            <a:ext cx="10236200" cy="901700"/>
          </a:xfrm>
          <a:prstGeom prst="roundRect">
            <a:avLst>
              <a:gd name="adj" fmla="val 9155"/>
            </a:avLst>
          </a:prstGeom>
          <a:noFill/>
          <a:ln w="12700">
            <a:solidFill>
              <a:srgbClr val="F879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2518" y="3802195"/>
            <a:ext cx="10006965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StoryMaker: 10 capítulos, unas 12.000 palabras, con los datos del destinatario y validadores que no dejan publicar una historia rota.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CONFIGURACIÓN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entrevista que detecta lo que falta y lo que se contradice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71550" y="1567128"/>
            <a:ext cx="553326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Entrevistador</a:t>
            </a:r>
            <a:r>
              <a:rPr lang="en-US" sz="14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nombre, edad, rasgos, recuerdos, género, tono, nivel de calor, elementos obligatorios y palabras vetadas.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71550" y="2217341"/>
            <a:ext cx="553326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Contradicción real detectada</a:t>
            </a:r>
            <a:r>
              <a:rPr lang="en-US" sz="14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vetar «hospital» choca con el elemento «la cafetería de Valdecilla». La obra no se crea.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71550" y="2867555"/>
            <a:ext cx="553326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libre como contenido no confiable</a:t>
            </a:r>
            <a:r>
              <a:rPr lang="en-US" sz="14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la carta pegada y las respuestas viajan marcadas como dato.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71550" y="3517768"/>
            <a:ext cx="553326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validado con schema</a:t>
            </a:r>
            <a:r>
              <a:rPr lang="en-US" sz="14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(Pydantic, extra=forbid) antes de escribir nada.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54800" y="1573478"/>
            <a:ext cx="4559300" cy="4262173"/>
          </a:xfrm>
          <a:prstGeom prst="roundRect">
            <a:avLst>
              <a:gd name="adj" fmla="val 1937"/>
            </a:avLst>
          </a:prstGeom>
          <a:solidFill>
            <a:srgbClr val="F7F7F5"/>
          </a:solidFill>
          <a:ln w="12700">
            <a:solidFill>
              <a:srgbClr val="E6EAEE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298917" y="3589007"/>
            <a:ext cx="327099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8A9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[Captura: la entrevista en hoja de cuaderno]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  <p:pic>
        <p:nvPicPr>
          <p:cNvPr id="12" name="Image 1" descr="image.png">    </p:cNvPr>
          <p:cNvPicPr>
            <a:picLocks noChangeAspect="1"/>
          </p:cNvPicPr>
          <p:nvPr/>
        </p:nvPicPr>
        <p:blipFill>
          <a:blip r:embed="rId2"/>
          <a:srcRect l="0" r="0" t="2898" b="2898"/>
          <a:stretch/>
        </p:blipFill>
        <p:spPr>
          <a:xfrm>
            <a:off x="6662837" y="1549598"/>
            <a:ext cx="4557647" cy="4256220"/>
          </a:xfrm>
          <a:prstGeom prst="roundRect">
            <a:avLst>
              <a:gd name="adj" fmla="val 2387"/>
            </a:avLst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LECTURA Y CORRECCIÓN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lee como un libro, y se corrige sin reescribirlo entero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71550" y="1567128"/>
            <a:ext cx="10556367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web con: portada con dedicatoria, índice navegable, «Quién es quién» con enlaces al capítulo, tamaño y tema de lectura, y PDF descargable.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71550" y="2293541"/>
            <a:ext cx="1968500" cy="1442575"/>
          </a:xfrm>
          <a:prstGeom prst="roundRect">
            <a:avLst>
              <a:gd name="adj" fmla="val 6163"/>
            </a:avLst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1149350" y="2471341"/>
            <a:ext cx="1663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9350" y="2735461"/>
            <a:ext cx="1663700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 perro se llama Nala», desde la ficha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41650" y="2293541"/>
            <a:ext cx="1968500" cy="1442575"/>
          </a:xfrm>
          <a:prstGeom prst="roundRect">
            <a:avLst>
              <a:gd name="adj" fmla="val 6163"/>
            </a:avLst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3219450" y="2471341"/>
            <a:ext cx="1663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Sustituye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19450" y="2735461"/>
            <a:ext cx="1663700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hecho nuevo que sustituye al anterior; nunca se edita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11750" y="2293541"/>
            <a:ext cx="1968500" cy="1442575"/>
          </a:xfrm>
          <a:prstGeom prst="roundRect">
            <a:avLst>
              <a:gd name="adj" fmla="val 6163"/>
            </a:avLst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5289550" y="2471341"/>
            <a:ext cx="1663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Regenera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89550" y="2735461"/>
            <a:ext cx="1663700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los capítulos que usan el hecho (hecho_usado_en)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81850" y="2293541"/>
            <a:ext cx="1968500" cy="1442575"/>
          </a:xfrm>
          <a:prstGeom prst="roundRect">
            <a:avLst>
              <a:gd name="adj" fmla="val 6163"/>
            </a:avLst>
          </a:prstGeom>
          <a:solidFill>
            <a:srgbClr val="F5F5F5"/>
          </a:solidFill>
          <a:ln/>
        </p:spPr>
      </p:sp>
      <p:sp>
        <p:nvSpPr>
          <p:cNvPr id="15" name="Text 13"/>
          <p:cNvSpPr/>
          <p:nvPr/>
        </p:nvSpPr>
        <p:spPr>
          <a:xfrm>
            <a:off x="7359650" y="2471341"/>
            <a:ext cx="1663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Revalida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59650" y="2735461"/>
            <a:ext cx="1663700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defecto introducido no publica; uno previo, sí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251950" y="2293541"/>
            <a:ext cx="1968500" cy="1442575"/>
          </a:xfrm>
          <a:prstGeom prst="roundRect">
            <a:avLst>
              <a:gd name="adj" fmla="val 6163"/>
            </a:avLst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9429750" y="2471341"/>
            <a:ext cx="16637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Publica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429750" y="2735461"/>
            <a:ext cx="1663700" cy="848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nueva, marca los capítulos cambiados, conserva la anterior</a:t>
            </a:r>
            <a:endParaRPr lang="en-US" sz="12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ARQUITECTURA DEL HARNESS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751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roles separados: quien escribe no se juzga, quien juzga no repara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2020491"/>
            <a:ext cx="1699220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5" name="Text 3"/>
          <p:cNvSpPr/>
          <p:nvPr/>
        </p:nvSpPr>
        <p:spPr>
          <a:xfrm>
            <a:off x="1022350" y="2160191"/>
            <a:ext cx="159762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Entrevistador</a:t>
            </a:r>
            <a:endParaRPr lang="en-US" sz="1300" dirty="0"/>
          </a:p>
        </p:txBody>
      </p:sp>
      <p:pic>
        <p:nvPicPr>
          <p:cNvPr id="6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6970" y="2205899"/>
            <a:ext cx="279400" cy="139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102570" y="2020491"/>
            <a:ext cx="1699287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8" name="Text 5"/>
          <p:cNvSpPr/>
          <p:nvPr/>
        </p:nvSpPr>
        <p:spPr>
          <a:xfrm>
            <a:off x="3153370" y="2160191"/>
            <a:ext cx="159768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Arquitecto</a:t>
            </a:r>
            <a:endParaRPr lang="en-US" sz="1300" dirty="0"/>
          </a:p>
        </p:txBody>
      </p:sp>
      <p:pic>
        <p:nvPicPr>
          <p:cNvPr id="9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78057" y="2205899"/>
            <a:ext cx="279400" cy="1397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233657" y="2020491"/>
            <a:ext cx="1699220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11" name="Text 7"/>
          <p:cNvSpPr/>
          <p:nvPr/>
        </p:nvSpPr>
        <p:spPr>
          <a:xfrm>
            <a:off x="5284457" y="2160191"/>
            <a:ext cx="159762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Planificador</a:t>
            </a:r>
            <a:endParaRPr lang="en-US" sz="1300" dirty="0"/>
          </a:p>
        </p:txBody>
      </p:sp>
      <p:pic>
        <p:nvPicPr>
          <p:cNvPr id="1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09078" y="2205899"/>
            <a:ext cx="279400" cy="1397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371028" y="1911285"/>
            <a:ext cx="1711987" cy="728927"/>
          </a:xfrm>
          <a:prstGeom prst="roundRect">
            <a:avLst>
              <a:gd name="adj" fmla="val 9583"/>
            </a:avLst>
          </a:prstGeom>
          <a:solidFill>
            <a:srgbClr val="FFF7F2"/>
          </a:solidFill>
          <a:ln w="12700">
            <a:solidFill>
              <a:srgbClr val="F8C9AE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428178" y="2044635"/>
            <a:ext cx="159768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Ensamblador (código)</a:t>
            </a:r>
            <a:endParaRPr lang="en-US" sz="1300" dirty="0"/>
          </a:p>
        </p:txBody>
      </p:sp>
      <p:pic>
        <p:nvPicPr>
          <p:cNvPr id="15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65564" y="2205899"/>
            <a:ext cx="279400" cy="1397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521164" y="2020491"/>
            <a:ext cx="1699287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17" name="Text 11"/>
          <p:cNvSpPr/>
          <p:nvPr/>
        </p:nvSpPr>
        <p:spPr>
          <a:xfrm>
            <a:off x="9571964" y="2160191"/>
            <a:ext cx="159768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Escritor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977900" y="2971670"/>
            <a:ext cx="1587963" cy="497814"/>
          </a:xfrm>
          <a:prstGeom prst="roundRect">
            <a:avLst>
              <a:gd name="adj" fmla="val 14031"/>
            </a:avLst>
          </a:prstGeom>
          <a:solidFill>
            <a:srgbClr val="FFF7F2"/>
          </a:solidFill>
          <a:ln w="12700">
            <a:solidFill>
              <a:srgbClr val="F8C9AE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1035050" y="3105020"/>
            <a:ext cx="147366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de policy</a:t>
            </a:r>
            <a:endParaRPr lang="en-US" sz="1300" dirty="0"/>
          </a:p>
        </p:txBody>
      </p:sp>
      <p:pic>
        <p:nvPicPr>
          <p:cNvPr id="2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648413" y="3150726"/>
            <a:ext cx="279400" cy="1397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004013" y="2965320"/>
            <a:ext cx="2144448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22" name="Text 15"/>
          <p:cNvSpPr/>
          <p:nvPr/>
        </p:nvSpPr>
        <p:spPr>
          <a:xfrm>
            <a:off x="3050332" y="3105020"/>
            <a:ext cx="2051809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Continuista ‖ Crítico</a:t>
            </a:r>
            <a:endParaRPr lang="en-US" sz="1300" dirty="0"/>
          </a:p>
        </p:txBody>
      </p:sp>
      <p:pic>
        <p:nvPicPr>
          <p:cNvPr id="23" name="Image 5" descr="arrow-right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224661" y="3150726"/>
            <a:ext cx="279400" cy="1397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5586611" y="2971670"/>
            <a:ext cx="1587963" cy="497814"/>
          </a:xfrm>
          <a:prstGeom prst="roundRect">
            <a:avLst>
              <a:gd name="adj" fmla="val 14031"/>
            </a:avLst>
          </a:prstGeom>
          <a:solidFill>
            <a:srgbClr val="FFF7F2"/>
          </a:solidFill>
          <a:ln w="12700">
            <a:solidFill>
              <a:srgbClr val="F8C9AE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5643761" y="3105020"/>
            <a:ext cx="147366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 G1a</a:t>
            </a:r>
            <a:endParaRPr lang="en-US" sz="1300" dirty="0"/>
          </a:p>
        </p:txBody>
      </p:sp>
      <p:pic>
        <p:nvPicPr>
          <p:cNvPr id="26" name="Image 6" descr="arrow-right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257124" y="3150726"/>
            <a:ext cx="279400" cy="139700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7612724" y="2965320"/>
            <a:ext cx="1575263" cy="510514"/>
          </a:xfrm>
          <a:prstGeom prst="roundRect">
            <a:avLst>
              <a:gd name="adj" fmla="val 14926"/>
            </a:avLst>
          </a:prstGeom>
          <a:solidFill>
            <a:srgbClr val="1E2D3D"/>
          </a:solidFill>
          <a:ln/>
        </p:spPr>
      </p:sp>
      <p:sp>
        <p:nvSpPr>
          <p:cNvPr id="28" name="Text 19"/>
          <p:cNvSpPr/>
          <p:nvPr/>
        </p:nvSpPr>
        <p:spPr>
          <a:xfrm>
            <a:off x="7663524" y="3105020"/>
            <a:ext cx="147366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300" dirty="0"/>
          </a:p>
        </p:txBody>
      </p:sp>
      <p:pic>
        <p:nvPicPr>
          <p:cNvPr id="29" name="Image 7" descr="arrow-right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9264187" y="3150726"/>
            <a:ext cx="279400" cy="139700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9626137" y="2856111"/>
            <a:ext cx="1587963" cy="728927"/>
          </a:xfrm>
          <a:prstGeom prst="roundRect">
            <a:avLst>
              <a:gd name="adj" fmla="val 9583"/>
            </a:avLst>
          </a:prstGeom>
          <a:solidFill>
            <a:srgbClr val="FFF7F2"/>
          </a:solidFill>
          <a:ln w="12700">
            <a:solidFill>
              <a:srgbClr val="F8C9AE"/>
            </a:solidFill>
            <a:prstDash val="solid"/>
          </a:ln>
        </p:spPr>
      </p:sp>
      <p:sp>
        <p:nvSpPr>
          <p:cNvPr id="31" name="Text 21"/>
          <p:cNvSpPr/>
          <p:nvPr/>
        </p:nvSpPr>
        <p:spPr>
          <a:xfrm>
            <a:off x="9683287" y="2989461"/>
            <a:ext cx="1473663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+ G4 · publicar</a:t>
            </a:r>
            <a:endParaRPr lang="en-US" sz="1300" dirty="0"/>
          </a:p>
        </p:txBody>
      </p:sp>
      <p:sp>
        <p:nvSpPr>
          <p:cNvPr id="32" name="Text 22"/>
          <p:cNvSpPr/>
          <p:nvPr/>
        </p:nvSpPr>
        <p:spPr>
          <a:xfrm>
            <a:off x="971550" y="3794590"/>
            <a:ext cx="3414141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Bucle por capítulo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un defecto vuelve al Escritor con su cita; máximo dos reparaciones dirigidas y, después, escalado.</a:t>
            </a:r>
            <a:endParaRPr lang="en-US" sz="1300" dirty="0"/>
          </a:p>
        </p:txBody>
      </p:sp>
      <p:sp>
        <p:nvSpPr>
          <p:cNvPr id="33" name="Text 23"/>
          <p:cNvSpPr/>
          <p:nvPr/>
        </p:nvSpPr>
        <p:spPr>
          <a:xfrm>
            <a:off x="4438650" y="3794590"/>
            <a:ext cx="3414141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multi-agente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cada rol con su prompt versionado y su contexto; los defectos son atribuibles.</a:t>
            </a:r>
            <a:endParaRPr lang="en-US" sz="1300" dirty="0"/>
          </a:p>
        </p:txBody>
      </p:sp>
      <p:sp>
        <p:nvSpPr>
          <p:cNvPr id="34" name="Text 24"/>
          <p:cNvSpPr/>
          <p:nvPr/>
        </p:nvSpPr>
        <p:spPr>
          <a:xfrm>
            <a:off x="7905750" y="3794590"/>
            <a:ext cx="3414141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modelo (Haiku 4.5).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Claro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código determinista.</a:t>
            </a:r>
            <a:endParaRPr lang="en-US" sz="130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CONTEXTO, MEMORIA, TOOLS Y HOOKS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Escritor solo ve lo que el sistema decidió darle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67129"/>
            <a:ext cx="2466975" cy="1500981"/>
          </a:xfrm>
          <a:prstGeom prst="roundRect">
            <a:avLst>
              <a:gd name="adj" fmla="val 5923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971550" y="1567129"/>
            <a:ext cx="2466975" cy="63500"/>
          </a:xfrm>
          <a:custGeom>
            <a:avLst/>
            <a:gdLst/>
            <a:ahLst/>
            <a:cxnLst/>
            <a:rect l="l" t="t" r="r" b="b"/>
            <a:pathLst>
              <a:path w="2466975" h="63500">
                <a:moveTo>
                  <a:pt x="3706" y="63500"/>
                </a:moveTo>
                <a:arcTo hR="88900" wR="88900" stAng="11796093" swAng="4403907"/>
                <a:lnTo>
                  <a:pt x="2378075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6" name="Text 4"/>
          <p:cNvSpPr/>
          <p:nvPr/>
        </p:nvSpPr>
        <p:spPr>
          <a:xfrm>
            <a:off x="1149350" y="1808429"/>
            <a:ext cx="217471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49350" y="2250349"/>
            <a:ext cx="217471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en vuelo como techo, contados en tokens, no en llamadas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5525" y="1567129"/>
            <a:ext cx="2466975" cy="1500981"/>
          </a:xfrm>
          <a:prstGeom prst="roundRect">
            <a:avLst>
              <a:gd name="adj" fmla="val 5923"/>
            </a:avLst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3565525" y="1567129"/>
            <a:ext cx="2466975" cy="63500"/>
          </a:xfrm>
          <a:custGeom>
            <a:avLst/>
            <a:gdLst/>
            <a:ahLst/>
            <a:cxnLst/>
            <a:rect l="l" t="t" r="r" b="b"/>
            <a:pathLst>
              <a:path w="2466975" h="63500">
                <a:moveTo>
                  <a:pt x="3706" y="63500"/>
                </a:moveTo>
                <a:arcTo hR="88900" wR="88900" stAng="11796093" swAng="4403907"/>
                <a:lnTo>
                  <a:pt x="2378075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0" name="Text 8"/>
          <p:cNvSpPr/>
          <p:nvPr/>
        </p:nvSpPr>
        <p:spPr>
          <a:xfrm>
            <a:off x="3743325" y="1808429"/>
            <a:ext cx="217471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capas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743325" y="2250349"/>
            <a:ext cx="217471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contexto con tope propio; se recorta la capa, nunca por el final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59500" y="1567129"/>
            <a:ext cx="2466975" cy="1500981"/>
          </a:xfrm>
          <a:prstGeom prst="roundRect">
            <a:avLst>
              <a:gd name="adj" fmla="val 5923"/>
            </a:avLst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6159500" y="1567129"/>
            <a:ext cx="2466975" cy="63500"/>
          </a:xfrm>
          <a:custGeom>
            <a:avLst/>
            <a:gdLst/>
            <a:ahLst/>
            <a:cxnLst/>
            <a:rect l="l" t="t" r="r" b="b"/>
            <a:pathLst>
              <a:path w="2466975" h="63500">
                <a:moveTo>
                  <a:pt x="3706" y="63500"/>
                </a:moveTo>
                <a:arcTo hR="88900" wR="88900" stAng="11796093" swAng="4403907"/>
                <a:lnTo>
                  <a:pt x="2378075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4" name="Text 12"/>
          <p:cNvSpPr/>
          <p:nvPr/>
        </p:nvSpPr>
        <p:spPr>
          <a:xfrm>
            <a:off x="6337300" y="1808429"/>
            <a:ext cx="217471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37300" y="2250349"/>
            <a:ext cx="217471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bible: ledger append-only, cronología y en qué capítulo se usa cada hecho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53475" y="1567129"/>
            <a:ext cx="2466975" cy="1500981"/>
          </a:xfrm>
          <a:prstGeom prst="roundRect">
            <a:avLst>
              <a:gd name="adj" fmla="val 5923"/>
            </a:avLst>
          </a:prstGeom>
          <a:solidFill>
            <a:srgbClr val="F5F5F5"/>
          </a:solidFill>
          <a:ln/>
        </p:spPr>
      </p:sp>
      <p:sp>
        <p:nvSpPr>
          <p:cNvPr id="17" name="Shape 15"/>
          <p:cNvSpPr/>
          <p:nvPr/>
        </p:nvSpPr>
        <p:spPr>
          <a:xfrm>
            <a:off x="8753475" y="1567129"/>
            <a:ext cx="2466975" cy="63500"/>
          </a:xfrm>
          <a:custGeom>
            <a:avLst/>
            <a:gdLst/>
            <a:ahLst/>
            <a:cxnLst/>
            <a:rect l="l" t="t" r="r" b="b"/>
            <a:pathLst>
              <a:path w="2466975" h="63500">
                <a:moveTo>
                  <a:pt x="3706" y="63500"/>
                </a:moveTo>
                <a:arcTo hR="88900" wR="88900" stAng="11796093" swAng="4403907"/>
                <a:lnTo>
                  <a:pt x="2378075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8" name="Text 16"/>
          <p:cNvSpPr/>
          <p:nvPr/>
        </p:nvSpPr>
        <p:spPr>
          <a:xfrm>
            <a:off x="8931275" y="1808429"/>
            <a:ext cx="217471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931275" y="2250349"/>
            <a:ext cx="217471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capítulo: se reanuda sin duplicar ni perder, probado matando el proceso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71550" y="3296710"/>
            <a:ext cx="5199698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tools, por decisión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ningún agente accede a la base; si falta un dato, falla el ensamblado, no el Escritor.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296710"/>
            <a:ext cx="5199698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hooks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fuera del modelo: validación de capítulo (G1a) y policy (vetos, audit log).</a:t>
            </a:r>
            <a:endParaRPr lang="en-US" sz="13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VALIDACIÓN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tipos de validadores, cada uno en su punto del harness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29"/>
          <a:ext cx="10236200" cy="2849166"/>
        </p:xfrm>
        <a:graphic>
          <a:graphicData uri="http://schemas.openxmlformats.org/drawingml/2006/table">
            <a:tbl>
              <a:tblPr/>
              <a:tblGrid>
                <a:gridCol w="1842516"/>
                <a:gridCol w="5527548"/>
                <a:gridCol w="2866136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actúa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Programáticos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Schema de cada rol · extensión 1.000–1.500 · nombres literales · persona y tiempo verbal · palabras prohibidas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 de capítulo (G1a)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Programáticos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Cobertura de elementos obligatorios contra la tabla de hechos · validación visual en el navegador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antes de publicar (G4)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Semánticos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Continuista contra el grafo de canon · Crítico LLM-as-judge con rúbrica, nota y justificación por criterio · revisión humana con la misma rúbrica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 editor, en paralelo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Formal · historia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Lean 4 sobre la cronología: nadie en dos lugares a la vez; nadie reaparece tras un evento que lo excluye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Gate: si falla, no se publica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Formal · sistema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TLA+ y TLC: máquina de estados con retries, checkpoint y regeneración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desarrollo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71550" y="4555995"/>
            <a:ext cx="1055636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validador tiene nombre y envía su resultado a Langfuse como score.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briefs de prueba y una iteración de tuning medida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29"/>
          <a:ext cx="6142898" cy="2849166"/>
        </p:xfrm>
        <a:graphic>
          <a:graphicData uri="http://schemas.openxmlformats.org/drawingml/2006/table">
            <a:tbl>
              <a:tblPr/>
              <a:tblGrid>
                <a:gridCol w="1842869"/>
                <a:gridCol w="2457159"/>
                <a:gridCol w="1842869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prueba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B1 jubilación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Outline hecho; cap. 1 sin integrar (caídas)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 inyección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en texto libre y formulario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F463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Neutralizada: cap. 1 aprobado, sin fuga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B3 trampa temporal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Incoherencia que caza Lean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Escaló en el cap. 1 (v1): origen del tuning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968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B4 veto-colisión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Veto contra elemento obligatorio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Detenido en la entrevista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B5 cobertura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 difícil de cubrir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de 10 capítulos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81148" y="1516329"/>
            <a:ext cx="3839303" cy="1473068"/>
          </a:xfrm>
          <a:prstGeom prst="roundRect">
            <a:avLst>
              <a:gd name="adj" fmla="val 6035"/>
            </a:avLst>
          </a:prstGeom>
          <a:solidFill>
            <a:srgbClr val="F5F5F5"/>
          </a:solidFill>
          <a:ln/>
        </p:spPr>
      </p:sp>
      <p:sp>
        <p:nvSpPr>
          <p:cNvPr id="6" name="Text 3"/>
          <p:cNvSpPr/>
          <p:nvPr/>
        </p:nvSpPr>
        <p:spPr>
          <a:xfrm>
            <a:off x="7558948" y="1694129"/>
            <a:ext cx="35882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· escritor v1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558948" y="1958249"/>
            <a:ext cx="358821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58948" y="2400170"/>
            <a:ext cx="3588214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capítulos aprobados: 812, 141 y 621 palabras, escalado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387498" y="3097346"/>
            <a:ext cx="3826603" cy="1485768"/>
          </a:xfrm>
          <a:prstGeom prst="roundRect">
            <a:avLst>
              <a:gd name="adj" fmla="val 5556"/>
            </a:avLst>
          </a:prstGeom>
          <a:solidFill>
            <a:srgbClr val="FFF7F2"/>
          </a:solidFill>
          <a:ln w="12700">
            <a:solidFill>
              <a:srgbClr val="F8C9A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71648" y="3281496"/>
            <a:ext cx="35620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 · escritor v2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71648" y="3545616"/>
            <a:ext cx="356205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de 5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71648" y="3987536"/>
            <a:ext cx="3562052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aprobados: 1.010 a 1.443 palabras, cuatro con una reparación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VERIFICACIÓN FORMAL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vigila la historia; TLC vigila el harness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41729"/>
            <a:ext cx="5022850" cy="4300273"/>
          </a:xfrm>
          <a:prstGeom prst="roundRect">
            <a:avLst>
              <a:gd name="adj" fmla="val 2067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1770329"/>
            <a:ext cx="4702620" cy="284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4 · gate de publicación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00150" y="2130958"/>
            <a:ext cx="470262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Fichero generado desde la cronología de SQLite. Invariantes: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sinUbicuidad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sinReaparecidos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00150" y="2694781"/>
            <a:ext cx="470262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Novela entera: 122 filas, 1,7 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00150" y="3027499"/>
            <a:ext cx="470262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real:</a:t>
            </a:r>
            <a:r>
              <a:rPr lang="en-US" sz="1300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cazó un evento mal extraído («sale del salón» como partida definitiva) y bloqueó la publicación: 31 reapariciones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7600" y="1541729"/>
            <a:ext cx="5022850" cy="4300273"/>
          </a:xfrm>
          <a:prstGeom prst="roundRect">
            <a:avLst>
              <a:gd name="adj" fmla="val 2067"/>
            </a:avLst>
          </a:prstGeom>
          <a:solidFill>
            <a:srgbClr val="1E2D3D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770329"/>
            <a:ext cx="4702620" cy="2844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TLA+ · model checking con TLC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26200" y="2130958"/>
            <a:ext cx="4702620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65.601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26200" y="2730370"/>
            <a:ext cx="470262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distintos, profundidad 45, cero errores. Tres invariantes de seguridad y una propiedad de liveness.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26200" y="3294199"/>
            <a:ext cx="470262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correspondencia código ↔ spec la comprueba un test.</a:t>
            </a:r>
            <a:endParaRPr lang="en-US" sz="13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OBSERVABILIDAD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novela es una sesión en Langfuse</a:t>
            </a:r>
            <a:endParaRPr lang="en-US" sz="2600" dirty="0"/>
          </a:p>
        </p:txBody>
      </p:sp>
      <p:pic>
        <p:nvPicPr>
          <p:cNvPr id="6" name="Image 1" descr="image.png">    </p:cNvPr>
          <p:cNvPicPr>
            <a:picLocks noChangeAspect="1"/>
          </p:cNvPicPr>
          <p:nvPr/>
        </p:nvPicPr>
        <p:blipFill>
          <a:blip r:embed="rId2"/>
          <a:srcRect l="3864" r="3864" t="0" b="0"/>
          <a:stretch/>
        </p:blipFill>
        <p:spPr>
          <a:xfrm>
            <a:off x="4749866" y="1691481"/>
            <a:ext cx="7086203" cy="2627246"/>
          </a:xfrm>
          <a:prstGeom prst="roundRect">
            <a:avLst>
              <a:gd name="adj" fmla="val 3867"/>
            </a:avLst>
          </a:prstGeom>
        </p:spPr>
      </p:pic>
      <p:sp>
        <p:nvSpPr>
          <p:cNvPr id="7" name="Text 3"/>
          <p:cNvSpPr/>
          <p:nvPr/>
        </p:nvSpPr>
        <p:spPr>
          <a:xfrm>
            <a:off x="971550" y="2367359"/>
            <a:ext cx="366268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novela; </a:t>
            </a: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capítulo, outline y publicación.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971550" y="2957909"/>
            <a:ext cx="366268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rol, con id, versión y hash del prompt.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71550" y="3313447"/>
            <a:ext cx="366268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validador y por criterio del juez.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71550" y="3669109"/>
            <a:ext cx="3662680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Tokens, coste y latencia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llamada, capítulo y novela.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reglas que importan viven en código, no en el prompt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41729"/>
            <a:ext cx="5060950" cy="1274961"/>
          </a:xfrm>
          <a:prstGeom prst="roundRect">
            <a:avLst>
              <a:gd name="adj" fmla="val 6973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149350" y="1719529"/>
            <a:ext cx="48465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Palabras prohibidas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9350" y="1998929"/>
            <a:ext cx="4846511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niveles en SQLite. Se normaliza antes de comparar: veto «sangre», el texto dice «Sangres» y se detecta. El capítulo vuelve al Escritor con el término.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59500" y="1541729"/>
            <a:ext cx="5060950" cy="1274961"/>
          </a:xfrm>
          <a:prstGeom prst="roundRect">
            <a:avLst>
              <a:gd name="adj" fmla="val 6973"/>
            </a:avLst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6337300" y="1719529"/>
            <a:ext cx="48465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personales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37300" y="1998929"/>
            <a:ext cx="4846511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real: una cuenta con política corporativa anonimiza todo nombre de persona. El servicio exige proveedor sin esa política o un DPA.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1550" y="2943690"/>
            <a:ext cx="5060950" cy="1061641"/>
          </a:xfrm>
          <a:prstGeom prst="roundRect">
            <a:avLst>
              <a:gd name="adj" fmla="val 8374"/>
            </a:avLst>
          </a:prstGeom>
          <a:solidFill>
            <a:srgbClr val="F5F5F5"/>
          </a:solidFill>
          <a:ln/>
        </p:spPr>
      </p:sp>
      <p:sp>
        <p:nvSpPr>
          <p:cNvPr id="11" name="Text 9"/>
          <p:cNvSpPr/>
          <p:nvPr/>
        </p:nvSpPr>
        <p:spPr>
          <a:xfrm>
            <a:off x="1149350" y="3121490"/>
            <a:ext cx="48465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49350" y="3400890"/>
            <a:ext cx="484651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aportado y las respuestas del formulario entran marcados como dato, y la marca no se puede cerrar desde dentro.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9500" y="2943690"/>
            <a:ext cx="5060950" cy="1061641"/>
          </a:xfrm>
          <a:prstGeom prst="roundRect">
            <a:avLst>
              <a:gd name="adj" fmla="val 8374"/>
            </a:avLst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6337300" y="3121490"/>
            <a:ext cx="48465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37300" y="3400890"/>
            <a:ext cx="484651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Append-only: qué permitió y qué bloqueó el policy engine, y por qué. También en Langfuse.</a:t>
            </a:r>
            <a:endParaRPr lang="en-US" sz="12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PRESUPUESTO Y COSTE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 unitario, precio y coste del desarrollo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29"/>
          <a:ext cx="4984750" cy="2328532"/>
        </p:xfrm>
        <a:graphic>
          <a:graphicData uri="http://schemas.openxmlformats.org/drawingml/2006/table">
            <a:tbl>
              <a:tblPr/>
              <a:tblGrid>
                <a:gridCol w="3090545"/>
                <a:gridCol w="1894205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novela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Tokens, medido en Langfuse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Infraestructura por novela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Pasarela de pago y soporte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Coste unitario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Precio de venta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 por novela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F463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41,80 · 85 %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5700" y="1529029"/>
          <a:ext cx="4984750" cy="2328532"/>
        </p:xfrm>
        <a:graphic>
          <a:graphicData uri="http://schemas.openxmlformats.org/drawingml/2006/table">
            <a:tbl>
              <a:tblPr/>
              <a:tblGrid>
                <a:gridCol w="3090545"/>
                <a:gridCol w="1894205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Desarrollo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Diseño y specs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Desarrollo backend y frontend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evals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Despliegue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 55 €/h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Coste del proyecto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F463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2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Tokens: medido en Langfuse, 3,45 USD en 7 capítulos · resto: supuestos razonados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PRESUPUESTO Y COSTE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Escenarios de volumen y análisis de sensibilidad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29"/>
          <a:ext cx="10236200" cy="1330590"/>
        </p:xfrm>
        <a:graphic>
          <a:graphicData uri="http://schemas.openxmlformats.org/drawingml/2006/table">
            <a:tbl>
              <a:tblPr/>
              <a:tblGrid>
                <a:gridCol w="2866136"/>
                <a:gridCol w="1842516"/>
                <a:gridCol w="1842516"/>
                <a:gridCol w="1842516"/>
                <a:gridCol w="1842516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Novelas al 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2.530 € · 52 %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F463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19.250 € · 79 %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80.600 € · 82 %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77900" y="3043771"/>
            <a:ext cx="5048250" cy="1074341"/>
          </a:xfrm>
          <a:prstGeom prst="roundRect">
            <a:avLst>
              <a:gd name="adj" fmla="val 7684"/>
            </a:avLst>
          </a:prstGeom>
          <a:noFill/>
          <a:ln w="12700">
            <a:solidFill>
              <a:srgbClr val="F8793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62050" y="3227921"/>
            <a:ext cx="48203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+50 %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162050" y="3507321"/>
            <a:ext cx="482034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+2,25 € por novela; el margen unitario baja del 85 % al 81 %. Sigue siendo rentable, pero el modelo ya pesa.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65850" y="3043771"/>
            <a:ext cx="5048250" cy="1074341"/>
          </a:xfrm>
          <a:prstGeom prst="roundRect">
            <a:avLst>
              <a:gd name="adj" fmla="val 7684"/>
            </a:avLst>
          </a:prstGeom>
          <a:noFill/>
          <a:ln w="12700">
            <a:solidFill>
              <a:srgbClr val="F879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0000" y="3227921"/>
            <a:ext cx="48203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de tres revisiones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50000" y="3507321"/>
            <a:ext cx="4820349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revisión regenera solo los capítulos afectados: unos 0,45 € por capítulo afectado. Tres incluidas; desde la cuarta, 4,90 €.</a:t>
            </a:r>
            <a:endParaRPr lang="en-US" sz="12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Variable 7,20 €/novela · fijo: infraestructura y mantenimiento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DEMO Y CIERRE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cambio del lector que se propaga, y lo que viene después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971550" y="1543050"/>
            <a:ext cx="4185920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1550" y="1913868"/>
            <a:ext cx="418592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Límites de uso del proveedor · SQLite es de un escritor · el juez comparte modelo con el Escritor · tratamiento de datos personales.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71550" y="2680829"/>
            <a:ext cx="4185920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Siguientes pasos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71550" y="3051640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al escalar · juez en otro modelo · feedback de Lean al editor · linters de prosa · servidor MCP de lectura.</a:t>
            </a:r>
            <a:endParaRPr lang="en-US" sz="1200" dirty="0"/>
          </a:p>
        </p:txBody>
      </p:sp>
      <p:pic>
        <p:nvPicPr>
          <p:cNvPr id="10" name="Image 1" descr="im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604" y="1543050"/>
            <a:ext cx="6167793" cy="27051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3775" y="485775"/>
            <a:ext cx="5886450" cy="5886450"/>
          </a:xfrm>
          <a:prstGeom prst="roundRect">
            <a:avLst>
              <a:gd name="adj" fmla="val 27454"/>
            </a:avLst>
          </a:prstGeom>
          <a:noFill/>
          <a:ln w="19050">
            <a:solidFill>
              <a:srgbClr val="FBAA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05775" y="1247775"/>
            <a:ext cx="4362450" cy="4362450"/>
          </a:xfrm>
          <a:prstGeom prst="roundRect">
            <a:avLst>
              <a:gd name="adj" fmla="val 37045"/>
            </a:avLst>
          </a:prstGeom>
          <a:noFill/>
          <a:ln w="19050">
            <a:solidFill>
              <a:srgbClr val="FBAA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7775" y="2009775"/>
            <a:ext cx="2838450" cy="2838450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FBAA8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pic>
        <p:nvPicPr>
          <p:cNvPr id="6" name="Image 1" descr="Qaracter">    </p:cNvPr>
          <p:cNvPicPr>
            <a:picLocks noChangeAspect="1"/>
          </p:cNvPicPr>
          <p:nvPr/>
        </p:nvPicPr>
        <p:blipFill>
          <a:blip r:embed="rId2"/>
          <a:srcRect l="0" r="0" t="-27931" b="-27931"/>
          <a:stretch/>
        </p:blipFill>
        <p:spPr>
          <a:xfrm>
            <a:off x="927100" y="2159000"/>
            <a:ext cx="1962150" cy="7175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93800" y="2984500"/>
            <a:ext cx="5886450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your challenge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1193800" y="4064000"/>
            <a:ext cx="588645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93800" y="4381500"/>
            <a:ext cx="588645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mauricio.jimenez@qaracter.com</a:t>
            </a:r>
            <a:endParaRPr lang="en-US" sz="15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www.qaracter.com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3775" y="485775"/>
            <a:ext cx="5886450" cy="5886450"/>
          </a:xfrm>
          <a:prstGeom prst="roundRect">
            <a:avLst>
              <a:gd name="adj" fmla="val 27454"/>
            </a:avLst>
          </a:prstGeom>
          <a:noFill/>
          <a:ln w="19050">
            <a:solidFill>
              <a:srgbClr val="FBAA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05775" y="1247775"/>
            <a:ext cx="4362450" cy="4362450"/>
          </a:xfrm>
          <a:prstGeom prst="roundRect">
            <a:avLst>
              <a:gd name="adj" fmla="val 37045"/>
            </a:avLst>
          </a:prstGeom>
          <a:noFill/>
          <a:ln w="19050">
            <a:solidFill>
              <a:srgbClr val="FBAA8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93800" y="2540000"/>
            <a:ext cx="588645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193800" y="2857500"/>
            <a:ext cx="6540500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Detalle técnico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193800" y="381000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Arquitectura · A2 TLA+ · A3 Evals y tuning · A4 Modelo de datos · A5 Red-team · A6 Modelos y coste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ARQUITECTURA DEL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feature, con fronteras que comprueba la build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16335"/>
            <a:ext cx="5022850" cy="1869215"/>
          </a:xfrm>
          <a:prstGeom prst="roundRect">
            <a:avLst>
              <a:gd name="adj" fmla="val 4756"/>
            </a:avLst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174750" y="1719535"/>
            <a:ext cx="475494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· FastAPI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74750" y="2039541"/>
            <a:ext cx="4754944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features: obra, outline, escena, contexto, escritura, calidad, canon, manuscrito, auditoria. Solo importan de commons/ y del __init__ de otra feature: import-linter.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74750" y="2755702"/>
            <a:ext cx="475494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largas como trabajos en segundo plano, con estado legible por capítulo.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7600" y="1516335"/>
            <a:ext cx="5022850" cy="1869215"/>
          </a:xfrm>
          <a:prstGeom prst="roundRect">
            <a:avLst>
              <a:gd name="adj" fmla="val 4756"/>
            </a:avLst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719535"/>
            <a:ext cx="475494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React 19 + Vite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2039541"/>
            <a:ext cx="475494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Feature-first: shared/ nunca importa de features/; las features no se importan entre sí; se entra por index.ts. ESLint lo bloquea.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2542381"/>
            <a:ext cx="475494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generado desde el OpenAPI; TanStack Query para el estado de servidor.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71550" y="3563342"/>
            <a:ext cx="3331633" cy="972741"/>
          </a:xfrm>
          <a:prstGeom prst="roundRect">
            <a:avLst>
              <a:gd name="adj" fmla="val 9139"/>
            </a:avLst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971550" y="3563342"/>
            <a:ext cx="3331633" cy="63500"/>
          </a:xfrm>
          <a:custGeom>
            <a:avLst/>
            <a:gdLst/>
            <a:ahLst/>
            <a:cxnLst/>
            <a:rect l="l" t="t" r="r" b="b"/>
            <a:pathLst>
              <a:path w="3331633" h="63500">
                <a:moveTo>
                  <a:pt x="3706" y="63500"/>
                </a:moveTo>
                <a:arcTo hR="88900" wR="88900" stAng="11796093" swAng="4403907"/>
                <a:lnTo>
                  <a:pt x="3242733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" y="3779242"/>
            <a:ext cx="311763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1.087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23950" y="4170363"/>
            <a:ext cx="31176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de backend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30183" y="3563342"/>
            <a:ext cx="3331633" cy="972741"/>
          </a:xfrm>
          <a:prstGeom prst="roundRect">
            <a:avLst>
              <a:gd name="adj" fmla="val 9139"/>
            </a:avLst>
          </a:prstGeom>
          <a:solidFill>
            <a:srgbClr val="F5F5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430183" y="3563342"/>
            <a:ext cx="3331633" cy="63500"/>
          </a:xfrm>
          <a:custGeom>
            <a:avLst/>
            <a:gdLst/>
            <a:ahLst/>
            <a:cxnLst/>
            <a:rect l="l" t="t" r="r" b="b"/>
            <a:pathLst>
              <a:path w="3331633" h="63500">
                <a:moveTo>
                  <a:pt x="3706" y="63500"/>
                </a:moveTo>
                <a:arcTo hR="88900" wR="88900" stAng="11796093" swAng="4403907"/>
                <a:lnTo>
                  <a:pt x="3242733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8" name="Text 16"/>
          <p:cNvSpPr/>
          <p:nvPr/>
        </p:nvSpPr>
        <p:spPr>
          <a:xfrm>
            <a:off x="4582583" y="3779242"/>
            <a:ext cx="311763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82583" y="4170363"/>
            <a:ext cx="31176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de frontend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888817" y="3563342"/>
            <a:ext cx="3331633" cy="972741"/>
          </a:xfrm>
          <a:prstGeom prst="roundRect">
            <a:avLst>
              <a:gd name="adj" fmla="val 9139"/>
            </a:avLst>
          </a:prstGeom>
          <a:solidFill>
            <a:srgbClr val="F5F5F5"/>
          </a:solidFill>
          <a:ln/>
        </p:spPr>
      </p:sp>
      <p:sp>
        <p:nvSpPr>
          <p:cNvPr id="21" name="Shape 19"/>
          <p:cNvSpPr/>
          <p:nvPr/>
        </p:nvSpPr>
        <p:spPr>
          <a:xfrm>
            <a:off x="7888817" y="3563342"/>
            <a:ext cx="3331633" cy="63500"/>
          </a:xfrm>
          <a:custGeom>
            <a:avLst/>
            <a:gdLst/>
            <a:ahLst/>
            <a:cxnLst/>
            <a:rect l="l" t="t" r="r" b="b"/>
            <a:pathLst>
              <a:path w="3331633" h="63500">
                <a:moveTo>
                  <a:pt x="3706" y="63500"/>
                </a:moveTo>
                <a:arcTo hR="88900" wR="88900" stAng="11796093" swAng="4403907"/>
                <a:lnTo>
                  <a:pt x="3242733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22" name="Text 20"/>
          <p:cNvSpPr/>
          <p:nvPr/>
        </p:nvSpPr>
        <p:spPr>
          <a:xfrm>
            <a:off x="8041217" y="3779242"/>
            <a:ext cx="311763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041217" y="4170363"/>
            <a:ext cx="311763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llamadas al modelo en los tests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TLA+ DEL HARNESS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estados, tres invariantes y una propiedad de liveness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35"/>
          <a:ext cx="10236200" cy="1663237"/>
        </p:xfrm>
        <a:graphic>
          <a:graphicData uri="http://schemas.openxmlformats.org/drawingml/2006/table">
            <a:tbl>
              <a:tblPr/>
              <a:tblGrid>
                <a:gridCol w="3275584"/>
                <a:gridCol w="6960616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Propiedad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garantiza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Nunca se publica un capítulo que no pasó sus validadores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reanudación desde checkpoint no duplica ni pierde capítulos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reintentos por capítulo no superan el límite de 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 generación termina: publica o se detiene con motivo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71550" y="3370064"/>
            <a:ext cx="10248900" cy="833041"/>
          </a:xfrm>
          <a:prstGeom prst="roundRect">
            <a:avLst>
              <a:gd name="adj" fmla="val 10672"/>
            </a:avLst>
          </a:prstGeom>
          <a:solidFill>
            <a:srgbClr val="1E2D3D"/>
          </a:solidFill>
          <a:ln/>
        </p:spPr>
      </p:sp>
      <p:sp>
        <p:nvSpPr>
          <p:cNvPr id="6" name="Text 3"/>
          <p:cNvSpPr/>
          <p:nvPr/>
        </p:nvSpPr>
        <p:spPr>
          <a:xfrm>
            <a:off x="1225550" y="3573264"/>
            <a:ext cx="1181563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65.601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estados distintos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737313" y="3573264"/>
            <a:ext cx="109775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profundidad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65269" y="3573264"/>
            <a:ext cx="52314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18617" y="3573264"/>
            <a:ext cx="612626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formal/tla/Harness.tla · un test comprueba que el código y la spec tienen los mismos estados y transiciones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EVALS Y TUNING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 cambió en el prompt del Escritor y qué se midió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35"/>
          <a:ext cx="10236200" cy="1995884"/>
        </p:xfrm>
        <a:graphic>
          <a:graphicData uri="http://schemas.openxmlformats.org/drawingml/2006/table">
            <a:tbl>
              <a:tblPr/>
              <a:tblGrid>
                <a:gridCol w="3070860"/>
                <a:gridCol w="3582670"/>
                <a:gridCol w="3582670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escritor v1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escritor v2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pedía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 dura, al principio y al final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Reparación EST-02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Citaba el capítulo y pedía no tocarlo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Dice cuántas palabras hay y cuántas faltan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 intento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812 · 141 · 621 palabras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 a 935 palabras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Capítulos aprobados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de 1, escalado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F463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de 5, 4 con una reparación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Extensión final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1.010 a 1.443 palabras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71550" y="3702720"/>
            <a:ext cx="1055636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Evals: 5 briefs versionados en evals/, ejecutados con correr.py y tabulados con tabla.py desde Langfuse. Revisión humana con la misma rúbrica del juez: [pendiente, sobre la novela de ejemplo].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MODELO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base SQLite: la story bible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35"/>
          <a:ext cx="10236200" cy="2328532"/>
        </p:xfrm>
        <a:graphic>
          <a:graphicData uri="http://schemas.openxmlformats.org/drawingml/2006/table">
            <a:tbl>
              <a:tblPr/>
              <a:tblGrid>
                <a:gridCol w="3275584"/>
                <a:gridCol w="6960616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guarda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Canon y hechos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Ledger append-only; corregir es registrar un hecho que sustituye y cita al anterior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en T y cronología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Vistas derivadas del ledger; nunca se editan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por capítulo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hecho_usado_en: qué capítulos regenerar ante una petición de cambio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Versiones publicadas inmutables; una regeneración crea otra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Plantilla, hash, modelo, semilla, IDs recuperados, desglose por capa y coste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Vetos y auditoría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Tres ámbitos de palabras prohibidas y registro de auditoría append-only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71550" y="4035363"/>
            <a:ext cx="1055636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WAL, foreign_keys y busy_timeout de 30 s; migraciones con Alembic. Recuperación: filtro estructural primero, afinidad de vectores después.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 · RED-TEAM Y CORRIDA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rompió la corrida real y cómo se cerró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84250" y="1529035"/>
          <a:ext cx="10236200" cy="2993827"/>
        </p:xfrm>
        <a:graphic>
          <a:graphicData uri="http://schemas.openxmlformats.org/drawingml/2006/table">
            <a:tbl>
              <a:tblPr/>
              <a:tblGrid>
                <a:gridCol w="3685032"/>
                <a:gridCol w="6551168"/>
              </a:tblGrid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Hallazgo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 is locked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 antes de cada llamada, busy_timeout de 30 s y reanudación automática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Outline sin beats o fuera de schema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reparación dirigida con el motivo; 409 en vez de 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Capítulos cortos (EST-02)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Escritor v2 y reparación con el recuento de palabras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mal formada (Extractor, Continuista)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reparación; un id numérico se normaliza a texto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PER-02 con nombres duplicados en el canon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acepta una forma declarada en cualquier entidad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Lean: tiempos vagos y 122 filas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emparejan momentos con cifra; decide +kernel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Lean cazó un evento mal extraído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que sustituye (sustituye_a), sin editar el ledger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647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cobertura no veía la bufanda roja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334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hecho cuenta como usado donde nace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C8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A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1550" y="71120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F79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 · MODELOS Y COSTE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71550" y="975320"/>
            <a:ext cx="10556367" cy="388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spc="-50" kern="0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4.5 en todos los roles, con el coste medido delante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71550" y="1516335"/>
            <a:ext cx="3314700" cy="1445154"/>
          </a:xfrm>
          <a:prstGeom prst="roundRect">
            <a:avLst>
              <a:gd name="adj" fmla="val 6152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971550" y="1516335"/>
            <a:ext cx="3314700" cy="63500"/>
          </a:xfrm>
          <a:custGeom>
            <a:avLst/>
            <a:gdLst/>
            <a:ahLst/>
            <a:cxnLst/>
            <a:rect l="l" t="t" r="r" b="b"/>
            <a:pathLst>
              <a:path w="3314700" h="63500">
                <a:moveTo>
                  <a:pt x="3706" y="63500"/>
                </a:moveTo>
                <a:arcTo hR="88900" wR="88900" stAng="11796093" swAng="4403907"/>
                <a:lnTo>
                  <a:pt x="3225800" y="0"/>
                </a:lnTo>
                <a:arcTo hR="88900" wR="88900" stAng="16200000" swAng="4403907"/>
                <a:close/>
              </a:path>
            </a:pathLst>
          </a:custGeom>
          <a:solidFill>
            <a:srgbClr val="6B7682"/>
          </a:solidFill>
          <a:ln/>
        </p:spPr>
      </p:sp>
      <p:sp>
        <p:nvSpPr>
          <p:cNvPr id="6" name="Text 4"/>
          <p:cNvSpPr/>
          <p:nvPr/>
        </p:nvSpPr>
        <p:spPr>
          <a:xfrm>
            <a:off x="1149350" y="1757635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6B76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JUEZ EN OPUS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9350" y="2021756"/>
            <a:ext cx="304787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233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~8,8 USD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149350" y="2570361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novela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8650" y="1516335"/>
            <a:ext cx="3314700" cy="1445154"/>
          </a:xfrm>
          <a:prstGeom prst="roundRect">
            <a:avLst>
              <a:gd name="adj" fmla="val 6152"/>
            </a:avLst>
          </a:prstGeom>
          <a:solidFill>
            <a:srgbClr val="F5F5F5"/>
          </a:solidFill>
          <a:ln/>
        </p:spPr>
      </p:sp>
      <p:sp>
        <p:nvSpPr>
          <p:cNvPr id="10" name="Shape 8"/>
          <p:cNvSpPr/>
          <p:nvPr/>
        </p:nvSpPr>
        <p:spPr>
          <a:xfrm>
            <a:off x="4438650" y="1516335"/>
            <a:ext cx="3314700" cy="63500"/>
          </a:xfrm>
          <a:custGeom>
            <a:avLst/>
            <a:gdLst/>
            <a:ahLst/>
            <a:cxnLst/>
            <a:rect l="l" t="t" r="r" b="b"/>
            <a:pathLst>
              <a:path w="3314700" h="63500">
                <a:moveTo>
                  <a:pt x="3706" y="63500"/>
                </a:moveTo>
                <a:arcTo hR="88900" wR="88900" stAng="11796093" swAng="4403907"/>
                <a:lnTo>
                  <a:pt x="3225800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1" name="Text 9"/>
          <p:cNvSpPr/>
          <p:nvPr/>
        </p:nvSpPr>
        <p:spPr>
          <a:xfrm>
            <a:off x="4616450" y="1757635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HAIKU 4.5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6450" y="2021756"/>
            <a:ext cx="304787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~4,9 USD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16450" y="2570361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novela · medido en Langfuse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05750" y="1516335"/>
            <a:ext cx="3314700" cy="1445154"/>
          </a:xfrm>
          <a:prstGeom prst="roundRect">
            <a:avLst>
              <a:gd name="adj" fmla="val 6152"/>
            </a:avLst>
          </a:prstGeom>
          <a:solidFill>
            <a:srgbClr val="F5F5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905750" y="1516335"/>
            <a:ext cx="3314700" cy="63500"/>
          </a:xfrm>
          <a:custGeom>
            <a:avLst/>
            <a:gdLst/>
            <a:ahLst/>
            <a:cxnLst/>
            <a:rect l="l" t="t" r="r" b="b"/>
            <a:pathLst>
              <a:path w="3314700" h="63500">
                <a:moveTo>
                  <a:pt x="3706" y="63500"/>
                </a:moveTo>
                <a:arcTo hR="88900" wR="88900" stAng="11796093" swAng="4403907"/>
                <a:lnTo>
                  <a:pt x="3225800" y="0"/>
                </a:lnTo>
                <a:arcTo hR="88900" wR="88900" stAng="16200000" swAng="4403907"/>
                <a:close/>
              </a:path>
            </a:pathLst>
          </a:custGeom>
          <a:solidFill>
            <a:srgbClr val="F4631E"/>
          </a:solidFill>
          <a:ln/>
        </p:spPr>
      </p:sp>
      <p:sp>
        <p:nvSpPr>
          <p:cNvPr id="16" name="Text 14"/>
          <p:cNvSpPr/>
          <p:nvPr/>
        </p:nvSpPr>
        <p:spPr>
          <a:xfrm>
            <a:off x="8083550" y="1757635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SOBRECARGA DEL CLI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83550" y="2021756"/>
            <a:ext cx="3047873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463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~1.200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083550" y="2570361"/>
            <a:ext cx="304787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por llamada, reservados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71550" y="3139281"/>
            <a:ext cx="1055636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pierde:</a:t>
            </a: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 juez que comparte modelo con el Escritor tiende a aprobar su propio estilo. La constante del juez está separada para revertirlo con una línea.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71550" y="3779317"/>
            <a:ext cx="1055636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C46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Reparto medido: Continuista 43 % · Escritor 21 % · Crítico 19 % · Extractor 10 % · Planificador 7 %.</a:t>
            </a:r>
            <a:endParaRPr lang="en-US" sz="13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895" b="-7895"/>
          <a:stretch/>
        </p:blipFill>
        <p:spPr>
          <a:xfrm>
            <a:off x="11049000" y="609600"/>
            <a:ext cx="361950" cy="4191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1550" y="6289080"/>
            <a:ext cx="1055636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Qaracter group, all rights reserved 2026 · StoryMaker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PptxGenJS</dc:creator>
  <cp:lastModifiedBy>PptxGenJS</cp:lastModifiedBy>
  <cp:revision>1</cp:revision>
  <dcterms:created xsi:type="dcterms:W3CDTF">2026-09-25T11:53:57Z</dcterms:created>
  <dcterms:modified xsi:type="dcterms:W3CDTF">2026-09-25T11:53:57Z</dcterms:modified>
</cp:coreProperties>
</file>